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4" r:id="rId4"/>
    <p:sldMasterId id="214748369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Roboto ExtraBold"/>
      <p:bold r:id="rId39"/>
      <p:boldItalic r:id="rId40"/>
    </p:embeddedFont>
    <p:embeddedFont>
      <p:font typeface="Roboto Black"/>
      <p:bold r:id="rId41"/>
      <p:boldItalic r:id="rId42"/>
    </p:embeddedFont>
    <p:embeddedFont>
      <p:font typeface="Roboto"/>
      <p:regular r:id="rId43"/>
      <p:bold r:id="rId44"/>
      <p:italic r:id="rId45"/>
      <p:boldItalic r:id="rId46"/>
    </p:embeddedFont>
    <p:embeddedFont>
      <p:font typeface="Roboto Medium"/>
      <p:regular r:id="rId47"/>
      <p:bold r:id="rId48"/>
      <p:italic r:id="rId49"/>
      <p:boldItalic r:id="rId50"/>
    </p:embeddedFont>
    <p:embeddedFont>
      <p:font typeface="Bebas Neue"/>
      <p:regular r:id="rId51"/>
    </p:embeddedFont>
    <p:embeddedFont>
      <p:font typeface="Hind"/>
      <p:regular r:id="rId52"/>
      <p:bold r:id="rId53"/>
    </p:embeddedFont>
    <p:embeddedFont>
      <p:font typeface="Roboto SemiBold"/>
      <p:regular r:id="rId54"/>
      <p:bold r:id="rId55"/>
      <p:italic r:id="rId56"/>
      <p:boldItalic r:id="rId57"/>
    </p:embeddedFont>
    <p:embeddedFont>
      <p:font typeface="PT Sans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537A76-95F8-421B-BB93-B3BF78DB5E3E}">
  <a:tblStyle styleId="{F5537A76-95F8-421B-BB93-B3BF78DB5E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ExtraBold-boldItalic.fntdata"/><Relationship Id="rId42" Type="http://schemas.openxmlformats.org/officeDocument/2006/relationships/font" Target="fonts/RobotoBlack-boldItalic.fntdata"/><Relationship Id="rId41" Type="http://schemas.openxmlformats.org/officeDocument/2006/relationships/font" Target="fonts/RobotoBlack-bold.fntdata"/><Relationship Id="rId44" Type="http://schemas.openxmlformats.org/officeDocument/2006/relationships/font" Target="fonts/Roboto-bold.fntdata"/><Relationship Id="rId43" Type="http://schemas.openxmlformats.org/officeDocument/2006/relationships/font" Target="fonts/Roboto-regular.fntdata"/><Relationship Id="rId46" Type="http://schemas.openxmlformats.org/officeDocument/2006/relationships/font" Target="fonts/Roboto-boldItalic.fntdata"/><Relationship Id="rId45" Type="http://schemas.openxmlformats.org/officeDocument/2006/relationships/font" Target="fonts/Roboto-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RobotoMedium-bold.fntdata"/><Relationship Id="rId47" Type="http://schemas.openxmlformats.org/officeDocument/2006/relationships/font" Target="fonts/RobotoMedium-regular.fntdata"/><Relationship Id="rId49" Type="http://schemas.openxmlformats.org/officeDocument/2006/relationships/font" Target="fonts/RobotoMedium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RobotoExtraBold-bold.fntdata"/><Relationship Id="rId38" Type="http://schemas.openxmlformats.org/officeDocument/2006/relationships/slide" Target="slides/slide32.xml"/><Relationship Id="rId61" Type="http://schemas.openxmlformats.org/officeDocument/2006/relationships/font" Target="fonts/PTSans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PTSans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BebasNeue-regular.fntdata"/><Relationship Id="rId50" Type="http://schemas.openxmlformats.org/officeDocument/2006/relationships/font" Target="fonts/RobotoMedium-boldItalic.fntdata"/><Relationship Id="rId53" Type="http://schemas.openxmlformats.org/officeDocument/2006/relationships/font" Target="fonts/Hind-bold.fntdata"/><Relationship Id="rId52" Type="http://schemas.openxmlformats.org/officeDocument/2006/relationships/font" Target="fonts/Hind-regular.fntdata"/><Relationship Id="rId11" Type="http://schemas.openxmlformats.org/officeDocument/2006/relationships/slide" Target="slides/slide5.xml"/><Relationship Id="rId55" Type="http://schemas.openxmlformats.org/officeDocument/2006/relationships/font" Target="fonts/RobotoSemiBold-bold.fntdata"/><Relationship Id="rId10" Type="http://schemas.openxmlformats.org/officeDocument/2006/relationships/slide" Target="slides/slide4.xml"/><Relationship Id="rId54" Type="http://schemas.openxmlformats.org/officeDocument/2006/relationships/font" Target="fonts/RobotoSemiBold-regular.fntdata"/><Relationship Id="rId13" Type="http://schemas.openxmlformats.org/officeDocument/2006/relationships/slide" Target="slides/slide7.xml"/><Relationship Id="rId57" Type="http://schemas.openxmlformats.org/officeDocument/2006/relationships/font" Target="fonts/RobotoSemiBold-boldItalic.fntdata"/><Relationship Id="rId12" Type="http://schemas.openxmlformats.org/officeDocument/2006/relationships/slide" Target="slides/slide6.xml"/><Relationship Id="rId56" Type="http://schemas.openxmlformats.org/officeDocument/2006/relationships/font" Target="fonts/RobotoSemiBold-italic.fntdata"/><Relationship Id="rId15" Type="http://schemas.openxmlformats.org/officeDocument/2006/relationships/slide" Target="slides/slide9.xml"/><Relationship Id="rId59" Type="http://schemas.openxmlformats.org/officeDocument/2006/relationships/font" Target="fonts/PTSans-bold.fntdata"/><Relationship Id="rId14" Type="http://schemas.openxmlformats.org/officeDocument/2006/relationships/slide" Target="slides/slide8.xml"/><Relationship Id="rId58" Type="http://schemas.openxmlformats.org/officeDocument/2006/relationships/font" Target="fonts/PTSans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bea00f7a7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bea00f7a7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4be8606c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f4be8606c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949d6d8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f949d6d8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4be8606c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f4be8606c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4be8606c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f4be8606c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4be8606c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f4be8606c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4be8606c2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f4be8606c2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8091bc12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f8091bc12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f50bfe080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f50bfe080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f8091bc12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f8091bc12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8091bc12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f8091bc12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f81eaebab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f81eaebab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f8091bc12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f8091bc12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f81eaebab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f81eaebab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8091bc12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f8091bc12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f53a3294e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f53a3294e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f53a3294e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f53a3294e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f50bfe080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f50bfe080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f50bfe080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f50bfe080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f50bfe080f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f50bfe080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f82ea561d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f82ea561d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f50bfe080f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f50bfe080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f50bfe080f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f50bfe080f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f51ce750c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3f51ce750c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f81eaeba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3f81eaeba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f551cb1e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3f551cb1e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f51ce750c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3f51ce750c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f8171413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3f8171413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f51ce750c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3f51ce750c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f81714131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f81714131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ee890cab2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ee890cab2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537300" y="540425"/>
            <a:ext cx="5918700" cy="40692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084375" y="1310850"/>
            <a:ext cx="5133300" cy="19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084375" y="3384575"/>
            <a:ext cx="5133300" cy="3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-53025" y="4304575"/>
            <a:ext cx="9233400" cy="868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>
            <p:ph idx="2" type="pic"/>
          </p:nvPr>
        </p:nvSpPr>
        <p:spPr>
          <a:xfrm flipH="1">
            <a:off x="537274" y="539500"/>
            <a:ext cx="5918700" cy="43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953575" y="1433988"/>
            <a:ext cx="3943200" cy="14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3" type="title"/>
          </p:nvPr>
        </p:nvSpPr>
        <p:spPr>
          <a:xfrm>
            <a:off x="2286650" y="2150775"/>
            <a:ext cx="1093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3953575" y="3182087"/>
            <a:ext cx="3943200" cy="4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537300" y="1155850"/>
            <a:ext cx="8069100" cy="34527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rotWithShape="0" algn="bl" dir="4560000" dist="114300">
              <a:srgbClr val="000000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720000" y="1215750"/>
            <a:ext cx="7704000" cy="3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 sz="12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>
            <p:ph idx="2" type="pic"/>
          </p:nvPr>
        </p:nvSpPr>
        <p:spPr>
          <a:xfrm>
            <a:off x="4310422" y="535977"/>
            <a:ext cx="4284900" cy="43443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5017673" y="2536755"/>
            <a:ext cx="2700300" cy="11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9" name="Google Shape;29;p5"/>
          <p:cNvSpPr txBox="1"/>
          <p:nvPr>
            <p:ph idx="3" type="subTitle"/>
          </p:nvPr>
        </p:nvSpPr>
        <p:spPr>
          <a:xfrm>
            <a:off x="1454175" y="2536755"/>
            <a:ext cx="2700300" cy="11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30" name="Google Shape;30;p5"/>
          <p:cNvSpPr txBox="1"/>
          <p:nvPr>
            <p:ph idx="4" type="subTitle"/>
          </p:nvPr>
        </p:nvSpPr>
        <p:spPr>
          <a:xfrm>
            <a:off x="1454175" y="2231590"/>
            <a:ext cx="27003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5" type="subTitle"/>
          </p:nvPr>
        </p:nvSpPr>
        <p:spPr>
          <a:xfrm>
            <a:off x="5017666" y="2231590"/>
            <a:ext cx="27003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>
            <p:ph idx="2" type="pic"/>
          </p:nvPr>
        </p:nvSpPr>
        <p:spPr>
          <a:xfrm>
            <a:off x="545870" y="553000"/>
            <a:ext cx="4284900" cy="43272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734325" y="1199300"/>
            <a:ext cx="4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3734325" y="1908850"/>
            <a:ext cx="4696500" cy="22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40" name="Google Shape;40;p7"/>
          <p:cNvSpPr/>
          <p:nvPr/>
        </p:nvSpPr>
        <p:spPr>
          <a:xfrm flipH="1">
            <a:off x="-27505" y="4608500"/>
            <a:ext cx="9224700" cy="572700"/>
          </a:xfrm>
          <a:prstGeom prst="snip2DiagRect">
            <a:avLst>
              <a:gd fmla="val 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2174400" y="1307100"/>
            <a:ext cx="47952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948600" y="1274725"/>
            <a:ext cx="2905800" cy="148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948600" y="2910150"/>
            <a:ext cx="2905800" cy="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/>
          <p:nvPr>
            <p:ph idx="2" type="pic"/>
          </p:nvPr>
        </p:nvSpPr>
        <p:spPr>
          <a:xfrm>
            <a:off x="4293425" y="539500"/>
            <a:ext cx="4132800" cy="40692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1699075" y="1812650"/>
            <a:ext cx="5825100" cy="103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subTitle"/>
          </p:nvPr>
        </p:nvSpPr>
        <p:spPr>
          <a:xfrm>
            <a:off x="1699075" y="2921050"/>
            <a:ext cx="5825100" cy="4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/>
          <p:nvPr>
            <p:ph idx="2" type="pic"/>
          </p:nvPr>
        </p:nvSpPr>
        <p:spPr>
          <a:xfrm>
            <a:off x="4320275" y="539500"/>
            <a:ext cx="4286400" cy="43209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1556874" y="1634608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3" type="subTitle"/>
          </p:nvPr>
        </p:nvSpPr>
        <p:spPr>
          <a:xfrm>
            <a:off x="4698474" y="1634608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4" type="subTitle"/>
          </p:nvPr>
        </p:nvSpPr>
        <p:spPr>
          <a:xfrm>
            <a:off x="4698475" y="2592388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5" type="subTitle"/>
          </p:nvPr>
        </p:nvSpPr>
        <p:spPr>
          <a:xfrm>
            <a:off x="1552657" y="2592388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hasCustomPrompt="1" idx="6" type="title"/>
          </p:nvPr>
        </p:nvSpPr>
        <p:spPr>
          <a:xfrm>
            <a:off x="913075" y="1526934"/>
            <a:ext cx="501600" cy="38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hasCustomPrompt="1" idx="7" type="title"/>
          </p:nvPr>
        </p:nvSpPr>
        <p:spPr>
          <a:xfrm>
            <a:off x="4054711" y="2482305"/>
            <a:ext cx="501600" cy="38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hasCustomPrompt="1" idx="8" type="title"/>
          </p:nvPr>
        </p:nvSpPr>
        <p:spPr>
          <a:xfrm>
            <a:off x="4054656" y="1526934"/>
            <a:ext cx="501600" cy="38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/>
          <p:nvPr>
            <p:ph hasCustomPrompt="1" idx="9" type="title"/>
          </p:nvPr>
        </p:nvSpPr>
        <p:spPr>
          <a:xfrm>
            <a:off x="913075" y="2482305"/>
            <a:ext cx="501600" cy="38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idx="13" type="subTitle"/>
          </p:nvPr>
        </p:nvSpPr>
        <p:spPr>
          <a:xfrm>
            <a:off x="4698476" y="3550167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4" type="subTitle"/>
          </p:nvPr>
        </p:nvSpPr>
        <p:spPr>
          <a:xfrm>
            <a:off x="1562355" y="3550167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hasCustomPrompt="1" idx="15" type="title"/>
          </p:nvPr>
        </p:nvSpPr>
        <p:spPr>
          <a:xfrm>
            <a:off x="4054711" y="3435972"/>
            <a:ext cx="501600" cy="38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/>
          <p:nvPr>
            <p:ph hasCustomPrompt="1" idx="16" type="title"/>
          </p:nvPr>
        </p:nvSpPr>
        <p:spPr>
          <a:xfrm>
            <a:off x="913075" y="3435972"/>
            <a:ext cx="501600" cy="38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/>
          <p:nvPr>
            <p:ph idx="17" type="subTitle"/>
          </p:nvPr>
        </p:nvSpPr>
        <p:spPr>
          <a:xfrm>
            <a:off x="1556874" y="1353218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18" type="subTitle"/>
          </p:nvPr>
        </p:nvSpPr>
        <p:spPr>
          <a:xfrm>
            <a:off x="4698475" y="1353218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19" type="subTitle"/>
          </p:nvPr>
        </p:nvSpPr>
        <p:spPr>
          <a:xfrm>
            <a:off x="4698475" y="2310492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20" type="subTitle"/>
          </p:nvPr>
        </p:nvSpPr>
        <p:spPr>
          <a:xfrm>
            <a:off x="1552657" y="2310492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idx="21" type="subTitle"/>
          </p:nvPr>
        </p:nvSpPr>
        <p:spPr>
          <a:xfrm>
            <a:off x="4698475" y="3267766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22" type="subTitle"/>
          </p:nvPr>
        </p:nvSpPr>
        <p:spPr>
          <a:xfrm>
            <a:off x="1562355" y="3267766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" name="Google Shape;80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type="title"/>
          </p:nvPr>
        </p:nvSpPr>
        <p:spPr>
          <a:xfrm>
            <a:off x="713351" y="1430625"/>
            <a:ext cx="76068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" name="Google Shape;83;p14"/>
          <p:cNvSpPr txBox="1"/>
          <p:nvPr>
            <p:ph idx="1" type="subTitle"/>
          </p:nvPr>
        </p:nvSpPr>
        <p:spPr>
          <a:xfrm>
            <a:off x="713351" y="567500"/>
            <a:ext cx="7606800" cy="89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/>
          <p:nvPr/>
        </p:nvSpPr>
        <p:spPr>
          <a:xfrm>
            <a:off x="537300" y="1155850"/>
            <a:ext cx="8069100" cy="34527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rotWithShape="0" algn="bl" dir="4560000" dist="114300">
              <a:srgbClr val="000000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720000" y="1291950"/>
            <a:ext cx="3703200" cy="31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 sz="12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2" type="body"/>
          </p:nvPr>
        </p:nvSpPr>
        <p:spPr>
          <a:xfrm>
            <a:off x="4728050" y="1291950"/>
            <a:ext cx="3702900" cy="31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 sz="12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6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537300" y="1155850"/>
            <a:ext cx="8069100" cy="34527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rotWithShape="0" algn="bl" dir="4560000" dist="114300">
              <a:srgbClr val="000000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" type="subTitle"/>
          </p:nvPr>
        </p:nvSpPr>
        <p:spPr>
          <a:xfrm>
            <a:off x="6142135" y="21931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2" type="subTitle"/>
          </p:nvPr>
        </p:nvSpPr>
        <p:spPr>
          <a:xfrm>
            <a:off x="6137885" y="1912950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6" name="Google Shape;96;p16"/>
          <p:cNvSpPr txBox="1"/>
          <p:nvPr>
            <p:ph idx="3" type="subTitle"/>
          </p:nvPr>
        </p:nvSpPr>
        <p:spPr>
          <a:xfrm>
            <a:off x="1107638" y="383599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4" type="subTitle"/>
          </p:nvPr>
        </p:nvSpPr>
        <p:spPr>
          <a:xfrm>
            <a:off x="3619438" y="383599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5" type="subTitle"/>
          </p:nvPr>
        </p:nvSpPr>
        <p:spPr>
          <a:xfrm>
            <a:off x="1104250" y="3560575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6" type="subTitle"/>
          </p:nvPr>
        </p:nvSpPr>
        <p:spPr>
          <a:xfrm>
            <a:off x="3619363" y="3560575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0" name="Google Shape;100;p16"/>
          <p:cNvSpPr txBox="1"/>
          <p:nvPr>
            <p:ph idx="7" type="subTitle"/>
          </p:nvPr>
        </p:nvSpPr>
        <p:spPr>
          <a:xfrm>
            <a:off x="6142135" y="383599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8" type="subTitle"/>
          </p:nvPr>
        </p:nvSpPr>
        <p:spPr>
          <a:xfrm>
            <a:off x="6137885" y="3560575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2" name="Google Shape;102;p16"/>
          <p:cNvSpPr txBox="1"/>
          <p:nvPr>
            <p:ph idx="9" type="subTitle"/>
          </p:nvPr>
        </p:nvSpPr>
        <p:spPr>
          <a:xfrm>
            <a:off x="1107638" y="2188357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3" type="subTitle"/>
          </p:nvPr>
        </p:nvSpPr>
        <p:spPr>
          <a:xfrm>
            <a:off x="3619438" y="2188357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4" type="subTitle"/>
          </p:nvPr>
        </p:nvSpPr>
        <p:spPr>
          <a:xfrm>
            <a:off x="1104250" y="1912938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5" type="subTitle"/>
          </p:nvPr>
        </p:nvSpPr>
        <p:spPr>
          <a:xfrm>
            <a:off x="3619363" y="1912938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/>
          <p:nvPr>
            <p:ph idx="2" type="pic"/>
          </p:nvPr>
        </p:nvSpPr>
        <p:spPr>
          <a:xfrm>
            <a:off x="4310422" y="535977"/>
            <a:ext cx="4284900" cy="43443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" type="subTitle"/>
          </p:nvPr>
        </p:nvSpPr>
        <p:spPr>
          <a:xfrm>
            <a:off x="720025" y="2073500"/>
            <a:ext cx="2410800" cy="16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3" type="subTitle"/>
          </p:nvPr>
        </p:nvSpPr>
        <p:spPr>
          <a:xfrm>
            <a:off x="3406962" y="2077543"/>
            <a:ext cx="2410800" cy="16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4" type="subTitle"/>
          </p:nvPr>
        </p:nvSpPr>
        <p:spPr>
          <a:xfrm>
            <a:off x="6013200" y="2077539"/>
            <a:ext cx="2410800" cy="16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5" type="subTitle"/>
          </p:nvPr>
        </p:nvSpPr>
        <p:spPr>
          <a:xfrm>
            <a:off x="720025" y="1596850"/>
            <a:ext cx="24108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6" type="subTitle"/>
          </p:nvPr>
        </p:nvSpPr>
        <p:spPr>
          <a:xfrm>
            <a:off x="3406962" y="1596852"/>
            <a:ext cx="24108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5" name="Google Shape;115;p17"/>
          <p:cNvSpPr txBox="1"/>
          <p:nvPr>
            <p:ph idx="7" type="subTitle"/>
          </p:nvPr>
        </p:nvSpPr>
        <p:spPr>
          <a:xfrm>
            <a:off x="6013200" y="1596851"/>
            <a:ext cx="24108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>
            <p:ph idx="2" type="pic"/>
          </p:nvPr>
        </p:nvSpPr>
        <p:spPr>
          <a:xfrm>
            <a:off x="545870" y="543892"/>
            <a:ext cx="4284900" cy="43272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" name="Google Shape;120;p18"/>
          <p:cNvSpPr txBox="1"/>
          <p:nvPr>
            <p:ph idx="1" type="subTitle"/>
          </p:nvPr>
        </p:nvSpPr>
        <p:spPr>
          <a:xfrm>
            <a:off x="720025" y="2411564"/>
            <a:ext cx="2410800" cy="16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3" type="subTitle"/>
          </p:nvPr>
        </p:nvSpPr>
        <p:spPr>
          <a:xfrm>
            <a:off x="3406962" y="2413664"/>
            <a:ext cx="2410800" cy="16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4" type="subTitle"/>
          </p:nvPr>
        </p:nvSpPr>
        <p:spPr>
          <a:xfrm>
            <a:off x="6013200" y="2413664"/>
            <a:ext cx="2410800" cy="16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5" type="subTitle"/>
          </p:nvPr>
        </p:nvSpPr>
        <p:spPr>
          <a:xfrm>
            <a:off x="720025" y="1912780"/>
            <a:ext cx="24108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4" name="Google Shape;124;p18"/>
          <p:cNvSpPr txBox="1"/>
          <p:nvPr>
            <p:ph idx="6" type="subTitle"/>
          </p:nvPr>
        </p:nvSpPr>
        <p:spPr>
          <a:xfrm>
            <a:off x="3406964" y="1912783"/>
            <a:ext cx="24108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idx="7" type="subTitle"/>
          </p:nvPr>
        </p:nvSpPr>
        <p:spPr>
          <a:xfrm>
            <a:off x="6013204" y="1912781"/>
            <a:ext cx="24108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6" name="Google Shape;126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1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>
            <p:ph idx="2" type="pic"/>
          </p:nvPr>
        </p:nvSpPr>
        <p:spPr>
          <a:xfrm>
            <a:off x="545870" y="553000"/>
            <a:ext cx="4284900" cy="43272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" name="Google Shape;130;p19"/>
          <p:cNvSpPr txBox="1"/>
          <p:nvPr>
            <p:ph idx="1" type="subTitle"/>
          </p:nvPr>
        </p:nvSpPr>
        <p:spPr>
          <a:xfrm>
            <a:off x="1693375" y="1857195"/>
            <a:ext cx="24870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3" type="subTitle"/>
          </p:nvPr>
        </p:nvSpPr>
        <p:spPr>
          <a:xfrm>
            <a:off x="5149133" y="1857195"/>
            <a:ext cx="24870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9"/>
          <p:cNvSpPr txBox="1"/>
          <p:nvPr>
            <p:ph idx="4" type="subTitle"/>
          </p:nvPr>
        </p:nvSpPr>
        <p:spPr>
          <a:xfrm>
            <a:off x="1693375" y="3212595"/>
            <a:ext cx="24870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9"/>
          <p:cNvSpPr txBox="1"/>
          <p:nvPr>
            <p:ph idx="5" type="subTitle"/>
          </p:nvPr>
        </p:nvSpPr>
        <p:spPr>
          <a:xfrm>
            <a:off x="5149133" y="3212595"/>
            <a:ext cx="24870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9"/>
          <p:cNvSpPr txBox="1"/>
          <p:nvPr>
            <p:ph idx="6" type="subTitle"/>
          </p:nvPr>
        </p:nvSpPr>
        <p:spPr>
          <a:xfrm>
            <a:off x="1693376" y="1552395"/>
            <a:ext cx="24870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7" type="subTitle"/>
          </p:nvPr>
        </p:nvSpPr>
        <p:spPr>
          <a:xfrm>
            <a:off x="5149138" y="1552395"/>
            <a:ext cx="24870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8" type="subTitle"/>
          </p:nvPr>
        </p:nvSpPr>
        <p:spPr>
          <a:xfrm>
            <a:off x="1693376" y="2907795"/>
            <a:ext cx="24870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9" type="subTitle"/>
          </p:nvPr>
        </p:nvSpPr>
        <p:spPr>
          <a:xfrm>
            <a:off x="5149138" y="2907795"/>
            <a:ext cx="24870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tle only 1">
  <p:cSld name="CUSTOM_7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20"/>
          <p:cNvSpPr/>
          <p:nvPr/>
        </p:nvSpPr>
        <p:spPr>
          <a:xfrm>
            <a:off x="537300" y="1155850"/>
            <a:ext cx="8069100" cy="34527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rotWithShape="0" algn="bl" dir="4560000" dist="114300">
              <a:srgbClr val="000000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5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hasCustomPrompt="1" type="title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5" name="Google Shape;145;p21"/>
          <p:cNvSpPr txBox="1"/>
          <p:nvPr>
            <p:ph idx="1" type="subTitle"/>
          </p:nvPr>
        </p:nvSpPr>
        <p:spPr>
          <a:xfrm>
            <a:off x="2397000" y="1427750"/>
            <a:ext cx="4350000" cy="3609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46" name="Google Shape;146;p21"/>
          <p:cNvSpPr txBox="1"/>
          <p:nvPr>
            <p:ph hasCustomPrompt="1" idx="2" type="title"/>
          </p:nvPr>
        </p:nvSpPr>
        <p:spPr>
          <a:xfrm>
            <a:off x="2223600" y="1967937"/>
            <a:ext cx="4696800" cy="7689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7" name="Google Shape;147;p21"/>
          <p:cNvSpPr txBox="1"/>
          <p:nvPr>
            <p:ph idx="3" type="subTitle"/>
          </p:nvPr>
        </p:nvSpPr>
        <p:spPr>
          <a:xfrm>
            <a:off x="2397000" y="2716363"/>
            <a:ext cx="4350000" cy="3609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48" name="Google Shape;148;p21"/>
          <p:cNvSpPr txBox="1"/>
          <p:nvPr>
            <p:ph hasCustomPrompt="1" idx="4" type="title"/>
          </p:nvPr>
        </p:nvSpPr>
        <p:spPr>
          <a:xfrm>
            <a:off x="2223600" y="3265649"/>
            <a:ext cx="4696800" cy="7689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9" name="Google Shape;149;p21"/>
          <p:cNvSpPr txBox="1"/>
          <p:nvPr>
            <p:ph idx="5" type="subTitle"/>
          </p:nvPr>
        </p:nvSpPr>
        <p:spPr>
          <a:xfrm>
            <a:off x="2397000" y="4004977"/>
            <a:ext cx="4350000" cy="3609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50" name="Google Shape;150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/>
          <p:nvPr>
            <p:ph idx="2" type="pic"/>
          </p:nvPr>
        </p:nvSpPr>
        <p:spPr>
          <a:xfrm>
            <a:off x="4293425" y="539500"/>
            <a:ext cx="4132800" cy="40692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type="title"/>
          </p:nvPr>
        </p:nvSpPr>
        <p:spPr>
          <a:xfrm>
            <a:off x="713250" y="752750"/>
            <a:ext cx="3506100" cy="8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22"/>
          <p:cNvSpPr txBox="1"/>
          <p:nvPr>
            <p:ph idx="1" type="subTitle"/>
          </p:nvPr>
        </p:nvSpPr>
        <p:spPr>
          <a:xfrm>
            <a:off x="713225" y="1708815"/>
            <a:ext cx="3506100" cy="9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2"/>
          <p:cNvSpPr txBox="1"/>
          <p:nvPr/>
        </p:nvSpPr>
        <p:spPr>
          <a:xfrm>
            <a:off x="713250" y="3840550"/>
            <a:ext cx="35061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b="1" lang="en" sz="12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_8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_8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/>
          <p:nvPr>
            <p:ph idx="2" type="pic"/>
          </p:nvPr>
        </p:nvSpPr>
        <p:spPr>
          <a:xfrm>
            <a:off x="537300" y="540425"/>
            <a:ext cx="5918700" cy="40692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26"/>
          <p:cNvSpPr txBox="1"/>
          <p:nvPr>
            <p:ph type="ctrTitle"/>
          </p:nvPr>
        </p:nvSpPr>
        <p:spPr>
          <a:xfrm>
            <a:off x="3084375" y="1310850"/>
            <a:ext cx="5133300" cy="19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8" name="Google Shape;168;p26"/>
          <p:cNvSpPr txBox="1"/>
          <p:nvPr>
            <p:ph idx="1" type="subTitle"/>
          </p:nvPr>
        </p:nvSpPr>
        <p:spPr>
          <a:xfrm>
            <a:off x="3084375" y="3384575"/>
            <a:ext cx="5133300" cy="3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/>
        </p:nvSpPr>
        <p:spPr>
          <a:xfrm>
            <a:off x="-53025" y="4304575"/>
            <a:ext cx="9233400" cy="868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7"/>
          <p:cNvSpPr/>
          <p:nvPr>
            <p:ph idx="2" type="pic"/>
          </p:nvPr>
        </p:nvSpPr>
        <p:spPr>
          <a:xfrm flipH="1">
            <a:off x="537274" y="539500"/>
            <a:ext cx="5918700" cy="43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27"/>
          <p:cNvSpPr txBox="1"/>
          <p:nvPr>
            <p:ph type="title"/>
          </p:nvPr>
        </p:nvSpPr>
        <p:spPr>
          <a:xfrm>
            <a:off x="3953575" y="1433988"/>
            <a:ext cx="3943200" cy="14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3" name="Google Shape;173;p27"/>
          <p:cNvSpPr txBox="1"/>
          <p:nvPr>
            <p:ph hasCustomPrompt="1" idx="3" type="title"/>
          </p:nvPr>
        </p:nvSpPr>
        <p:spPr>
          <a:xfrm>
            <a:off x="2286650" y="2150775"/>
            <a:ext cx="1093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4" name="Google Shape;174;p27"/>
          <p:cNvSpPr txBox="1"/>
          <p:nvPr>
            <p:ph idx="1" type="subTitle"/>
          </p:nvPr>
        </p:nvSpPr>
        <p:spPr>
          <a:xfrm>
            <a:off x="3953575" y="3182087"/>
            <a:ext cx="3943200" cy="4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/>
          <p:nvPr/>
        </p:nvSpPr>
        <p:spPr>
          <a:xfrm>
            <a:off x="537300" y="1155850"/>
            <a:ext cx="8069100" cy="34527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rotWithShape="0" algn="bl" dir="4560000" dist="114300">
              <a:srgbClr val="000000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8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720000" y="1215750"/>
            <a:ext cx="7704000" cy="3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 sz="12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80" name="Google Shape;180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/>
          <p:nvPr>
            <p:ph idx="2" type="pic"/>
          </p:nvPr>
        </p:nvSpPr>
        <p:spPr>
          <a:xfrm>
            <a:off x="4310422" y="535977"/>
            <a:ext cx="4284900" cy="43443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9"/>
          <p:cNvSpPr txBox="1"/>
          <p:nvPr>
            <p:ph idx="1" type="subTitle"/>
          </p:nvPr>
        </p:nvSpPr>
        <p:spPr>
          <a:xfrm>
            <a:off x="5017673" y="2536755"/>
            <a:ext cx="2700300" cy="11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85" name="Google Shape;185;p29"/>
          <p:cNvSpPr txBox="1"/>
          <p:nvPr>
            <p:ph idx="3" type="subTitle"/>
          </p:nvPr>
        </p:nvSpPr>
        <p:spPr>
          <a:xfrm>
            <a:off x="1454175" y="2536755"/>
            <a:ext cx="2700300" cy="11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186" name="Google Shape;186;p29"/>
          <p:cNvSpPr txBox="1"/>
          <p:nvPr>
            <p:ph idx="4" type="subTitle"/>
          </p:nvPr>
        </p:nvSpPr>
        <p:spPr>
          <a:xfrm>
            <a:off x="1454175" y="2231590"/>
            <a:ext cx="27003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9"/>
          <p:cNvSpPr txBox="1"/>
          <p:nvPr>
            <p:ph idx="5" type="subTitle"/>
          </p:nvPr>
        </p:nvSpPr>
        <p:spPr>
          <a:xfrm>
            <a:off x="5017666" y="2231590"/>
            <a:ext cx="27003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/>
          <p:nvPr>
            <p:ph idx="2" type="pic"/>
          </p:nvPr>
        </p:nvSpPr>
        <p:spPr>
          <a:xfrm>
            <a:off x="545870" y="553000"/>
            <a:ext cx="4284900" cy="43272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31"/>
          <p:cNvSpPr txBox="1"/>
          <p:nvPr>
            <p:ph type="title"/>
          </p:nvPr>
        </p:nvSpPr>
        <p:spPr>
          <a:xfrm>
            <a:off x="3734325" y="1199300"/>
            <a:ext cx="4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5" name="Google Shape;195;p31"/>
          <p:cNvSpPr txBox="1"/>
          <p:nvPr>
            <p:ph idx="1" type="subTitle"/>
          </p:nvPr>
        </p:nvSpPr>
        <p:spPr>
          <a:xfrm>
            <a:off x="3734325" y="1908850"/>
            <a:ext cx="4696500" cy="22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96" name="Google Shape;196;p31"/>
          <p:cNvSpPr/>
          <p:nvPr/>
        </p:nvSpPr>
        <p:spPr>
          <a:xfrm flipH="1">
            <a:off x="-27505" y="4608500"/>
            <a:ext cx="9224700" cy="572700"/>
          </a:xfrm>
          <a:prstGeom prst="snip2DiagRect">
            <a:avLst>
              <a:gd fmla="val 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2174400" y="1307100"/>
            <a:ext cx="47952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0" name="Google Shape;20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>
            <p:ph type="title"/>
          </p:nvPr>
        </p:nvSpPr>
        <p:spPr>
          <a:xfrm>
            <a:off x="948600" y="1274725"/>
            <a:ext cx="2905800" cy="148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33"/>
          <p:cNvSpPr txBox="1"/>
          <p:nvPr>
            <p:ph idx="1" type="subTitle"/>
          </p:nvPr>
        </p:nvSpPr>
        <p:spPr>
          <a:xfrm>
            <a:off x="948600" y="2910150"/>
            <a:ext cx="2905800" cy="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3"/>
          <p:cNvSpPr/>
          <p:nvPr>
            <p:ph idx="2" type="pic"/>
          </p:nvPr>
        </p:nvSpPr>
        <p:spPr>
          <a:xfrm>
            <a:off x="4293425" y="539500"/>
            <a:ext cx="4132800" cy="40692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8" name="Google Shape;208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>
            <p:ph hasCustomPrompt="1" type="title"/>
          </p:nvPr>
        </p:nvSpPr>
        <p:spPr>
          <a:xfrm>
            <a:off x="1699075" y="1812650"/>
            <a:ext cx="5825100" cy="103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11" name="Google Shape;211;p35"/>
          <p:cNvSpPr txBox="1"/>
          <p:nvPr>
            <p:ph idx="1" type="subTitle"/>
          </p:nvPr>
        </p:nvSpPr>
        <p:spPr>
          <a:xfrm>
            <a:off x="1699075" y="2921050"/>
            <a:ext cx="5825100" cy="4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2" name="Google Shape;212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/>
          <p:nvPr>
            <p:ph idx="2" type="pic"/>
          </p:nvPr>
        </p:nvSpPr>
        <p:spPr>
          <a:xfrm>
            <a:off x="4320275" y="539500"/>
            <a:ext cx="4286400" cy="43209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8" name="Google Shape;218;p37"/>
          <p:cNvSpPr txBox="1"/>
          <p:nvPr>
            <p:ph idx="1" type="subTitle"/>
          </p:nvPr>
        </p:nvSpPr>
        <p:spPr>
          <a:xfrm>
            <a:off x="1556874" y="1634608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7"/>
          <p:cNvSpPr txBox="1"/>
          <p:nvPr>
            <p:ph idx="3" type="subTitle"/>
          </p:nvPr>
        </p:nvSpPr>
        <p:spPr>
          <a:xfrm>
            <a:off x="4698474" y="1634608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7"/>
          <p:cNvSpPr txBox="1"/>
          <p:nvPr>
            <p:ph idx="4" type="subTitle"/>
          </p:nvPr>
        </p:nvSpPr>
        <p:spPr>
          <a:xfrm>
            <a:off x="4698475" y="2592388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7"/>
          <p:cNvSpPr txBox="1"/>
          <p:nvPr>
            <p:ph idx="5" type="subTitle"/>
          </p:nvPr>
        </p:nvSpPr>
        <p:spPr>
          <a:xfrm>
            <a:off x="1552657" y="2592388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7"/>
          <p:cNvSpPr txBox="1"/>
          <p:nvPr>
            <p:ph hasCustomPrompt="1" idx="6" type="title"/>
          </p:nvPr>
        </p:nvSpPr>
        <p:spPr>
          <a:xfrm>
            <a:off x="913075" y="1526934"/>
            <a:ext cx="501600" cy="38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3" name="Google Shape;223;p37"/>
          <p:cNvSpPr txBox="1"/>
          <p:nvPr>
            <p:ph hasCustomPrompt="1" idx="7" type="title"/>
          </p:nvPr>
        </p:nvSpPr>
        <p:spPr>
          <a:xfrm>
            <a:off x="4054711" y="2482305"/>
            <a:ext cx="501600" cy="38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4" name="Google Shape;224;p37"/>
          <p:cNvSpPr txBox="1"/>
          <p:nvPr>
            <p:ph hasCustomPrompt="1" idx="8" type="title"/>
          </p:nvPr>
        </p:nvSpPr>
        <p:spPr>
          <a:xfrm>
            <a:off x="4054656" y="1526934"/>
            <a:ext cx="501600" cy="38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5" name="Google Shape;225;p37"/>
          <p:cNvSpPr txBox="1"/>
          <p:nvPr>
            <p:ph hasCustomPrompt="1" idx="9" type="title"/>
          </p:nvPr>
        </p:nvSpPr>
        <p:spPr>
          <a:xfrm>
            <a:off x="913075" y="2482305"/>
            <a:ext cx="501600" cy="38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" name="Google Shape;226;p37"/>
          <p:cNvSpPr txBox="1"/>
          <p:nvPr>
            <p:ph idx="13" type="subTitle"/>
          </p:nvPr>
        </p:nvSpPr>
        <p:spPr>
          <a:xfrm>
            <a:off x="4698476" y="3550167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7"/>
          <p:cNvSpPr txBox="1"/>
          <p:nvPr>
            <p:ph idx="14" type="subTitle"/>
          </p:nvPr>
        </p:nvSpPr>
        <p:spPr>
          <a:xfrm>
            <a:off x="1562355" y="3550167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7"/>
          <p:cNvSpPr txBox="1"/>
          <p:nvPr>
            <p:ph hasCustomPrompt="1" idx="15" type="title"/>
          </p:nvPr>
        </p:nvSpPr>
        <p:spPr>
          <a:xfrm>
            <a:off x="4054711" y="3435972"/>
            <a:ext cx="501600" cy="38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9" name="Google Shape;229;p37"/>
          <p:cNvSpPr txBox="1"/>
          <p:nvPr>
            <p:ph hasCustomPrompt="1" idx="16" type="title"/>
          </p:nvPr>
        </p:nvSpPr>
        <p:spPr>
          <a:xfrm>
            <a:off x="913075" y="3435972"/>
            <a:ext cx="501600" cy="38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0" name="Google Shape;230;p37"/>
          <p:cNvSpPr txBox="1"/>
          <p:nvPr>
            <p:ph idx="17" type="subTitle"/>
          </p:nvPr>
        </p:nvSpPr>
        <p:spPr>
          <a:xfrm>
            <a:off x="1556874" y="1353218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1" name="Google Shape;231;p37"/>
          <p:cNvSpPr txBox="1"/>
          <p:nvPr>
            <p:ph idx="18" type="subTitle"/>
          </p:nvPr>
        </p:nvSpPr>
        <p:spPr>
          <a:xfrm>
            <a:off x="4698475" y="1353218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2" name="Google Shape;232;p37"/>
          <p:cNvSpPr txBox="1"/>
          <p:nvPr>
            <p:ph idx="19" type="subTitle"/>
          </p:nvPr>
        </p:nvSpPr>
        <p:spPr>
          <a:xfrm>
            <a:off x="4698475" y="2310492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3" name="Google Shape;233;p37"/>
          <p:cNvSpPr txBox="1"/>
          <p:nvPr>
            <p:ph idx="20" type="subTitle"/>
          </p:nvPr>
        </p:nvSpPr>
        <p:spPr>
          <a:xfrm>
            <a:off x="1552657" y="2310492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4" name="Google Shape;234;p37"/>
          <p:cNvSpPr txBox="1"/>
          <p:nvPr>
            <p:ph idx="21" type="subTitle"/>
          </p:nvPr>
        </p:nvSpPr>
        <p:spPr>
          <a:xfrm>
            <a:off x="4698475" y="3267766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5" name="Google Shape;235;p37"/>
          <p:cNvSpPr txBox="1"/>
          <p:nvPr>
            <p:ph idx="22" type="subTitle"/>
          </p:nvPr>
        </p:nvSpPr>
        <p:spPr>
          <a:xfrm>
            <a:off x="1562355" y="3267766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6" name="Google Shape;236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>
            <p:ph type="title"/>
          </p:nvPr>
        </p:nvSpPr>
        <p:spPr>
          <a:xfrm>
            <a:off x="713351" y="1430625"/>
            <a:ext cx="76068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9" name="Google Shape;239;p38"/>
          <p:cNvSpPr txBox="1"/>
          <p:nvPr>
            <p:ph idx="1" type="subTitle"/>
          </p:nvPr>
        </p:nvSpPr>
        <p:spPr>
          <a:xfrm>
            <a:off x="713351" y="567500"/>
            <a:ext cx="7606800" cy="89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0" name="Google Shape;240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/>
          <p:nvPr/>
        </p:nvSpPr>
        <p:spPr>
          <a:xfrm>
            <a:off x="537300" y="1155850"/>
            <a:ext cx="8069100" cy="34527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rotWithShape="0" algn="bl" dir="4560000" dist="114300">
              <a:srgbClr val="000000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9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4" name="Google Shape;244;p39"/>
          <p:cNvSpPr txBox="1"/>
          <p:nvPr>
            <p:ph idx="1" type="body"/>
          </p:nvPr>
        </p:nvSpPr>
        <p:spPr>
          <a:xfrm>
            <a:off x="720000" y="1291950"/>
            <a:ext cx="3703200" cy="31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 sz="12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45" name="Google Shape;245;p39"/>
          <p:cNvSpPr txBox="1"/>
          <p:nvPr>
            <p:ph idx="2" type="body"/>
          </p:nvPr>
        </p:nvSpPr>
        <p:spPr>
          <a:xfrm>
            <a:off x="4728050" y="1291950"/>
            <a:ext cx="3702900" cy="31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 sz="12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46" name="Google Shape;246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6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0"/>
          <p:cNvSpPr/>
          <p:nvPr/>
        </p:nvSpPr>
        <p:spPr>
          <a:xfrm>
            <a:off x="537300" y="1155850"/>
            <a:ext cx="8069100" cy="34527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rotWithShape="0" algn="bl" dir="4560000" dist="114300">
              <a:srgbClr val="000000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0" name="Google Shape;250;p40"/>
          <p:cNvSpPr txBox="1"/>
          <p:nvPr>
            <p:ph idx="1" type="subTitle"/>
          </p:nvPr>
        </p:nvSpPr>
        <p:spPr>
          <a:xfrm>
            <a:off x="6142135" y="21931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40"/>
          <p:cNvSpPr txBox="1"/>
          <p:nvPr>
            <p:ph idx="2" type="subTitle"/>
          </p:nvPr>
        </p:nvSpPr>
        <p:spPr>
          <a:xfrm>
            <a:off x="6137885" y="1912950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2" name="Google Shape;252;p40"/>
          <p:cNvSpPr txBox="1"/>
          <p:nvPr>
            <p:ph idx="3" type="subTitle"/>
          </p:nvPr>
        </p:nvSpPr>
        <p:spPr>
          <a:xfrm>
            <a:off x="1107638" y="383599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40"/>
          <p:cNvSpPr txBox="1"/>
          <p:nvPr>
            <p:ph idx="4" type="subTitle"/>
          </p:nvPr>
        </p:nvSpPr>
        <p:spPr>
          <a:xfrm>
            <a:off x="3619438" y="383599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40"/>
          <p:cNvSpPr txBox="1"/>
          <p:nvPr>
            <p:ph idx="5" type="subTitle"/>
          </p:nvPr>
        </p:nvSpPr>
        <p:spPr>
          <a:xfrm>
            <a:off x="1104250" y="3560575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5" name="Google Shape;255;p40"/>
          <p:cNvSpPr txBox="1"/>
          <p:nvPr>
            <p:ph idx="6" type="subTitle"/>
          </p:nvPr>
        </p:nvSpPr>
        <p:spPr>
          <a:xfrm>
            <a:off x="3619363" y="3560575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7" type="subTitle"/>
          </p:nvPr>
        </p:nvSpPr>
        <p:spPr>
          <a:xfrm>
            <a:off x="6142135" y="383599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40"/>
          <p:cNvSpPr txBox="1"/>
          <p:nvPr>
            <p:ph idx="8" type="subTitle"/>
          </p:nvPr>
        </p:nvSpPr>
        <p:spPr>
          <a:xfrm>
            <a:off x="6137885" y="3560575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8" name="Google Shape;258;p40"/>
          <p:cNvSpPr txBox="1"/>
          <p:nvPr>
            <p:ph idx="9" type="subTitle"/>
          </p:nvPr>
        </p:nvSpPr>
        <p:spPr>
          <a:xfrm>
            <a:off x="1107638" y="2188357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0"/>
          <p:cNvSpPr txBox="1"/>
          <p:nvPr>
            <p:ph idx="13" type="subTitle"/>
          </p:nvPr>
        </p:nvSpPr>
        <p:spPr>
          <a:xfrm>
            <a:off x="3619438" y="2188357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40"/>
          <p:cNvSpPr txBox="1"/>
          <p:nvPr>
            <p:ph idx="14" type="subTitle"/>
          </p:nvPr>
        </p:nvSpPr>
        <p:spPr>
          <a:xfrm>
            <a:off x="1104250" y="1912938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1" name="Google Shape;261;p40"/>
          <p:cNvSpPr txBox="1"/>
          <p:nvPr>
            <p:ph idx="15" type="subTitle"/>
          </p:nvPr>
        </p:nvSpPr>
        <p:spPr>
          <a:xfrm>
            <a:off x="3619363" y="1912938"/>
            <a:ext cx="1986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2" name="Google Shape;262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1"/>
          <p:cNvSpPr/>
          <p:nvPr>
            <p:ph idx="2" type="pic"/>
          </p:nvPr>
        </p:nvSpPr>
        <p:spPr>
          <a:xfrm>
            <a:off x="4310422" y="535977"/>
            <a:ext cx="4284900" cy="43443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6" name="Google Shape;266;p41"/>
          <p:cNvSpPr txBox="1"/>
          <p:nvPr>
            <p:ph idx="1" type="subTitle"/>
          </p:nvPr>
        </p:nvSpPr>
        <p:spPr>
          <a:xfrm>
            <a:off x="720025" y="2073500"/>
            <a:ext cx="2410800" cy="16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41"/>
          <p:cNvSpPr txBox="1"/>
          <p:nvPr>
            <p:ph idx="3" type="subTitle"/>
          </p:nvPr>
        </p:nvSpPr>
        <p:spPr>
          <a:xfrm>
            <a:off x="3406962" y="2077543"/>
            <a:ext cx="2410800" cy="16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41"/>
          <p:cNvSpPr txBox="1"/>
          <p:nvPr>
            <p:ph idx="4" type="subTitle"/>
          </p:nvPr>
        </p:nvSpPr>
        <p:spPr>
          <a:xfrm>
            <a:off x="6013200" y="2077539"/>
            <a:ext cx="2410800" cy="16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1"/>
          <p:cNvSpPr txBox="1"/>
          <p:nvPr>
            <p:ph idx="5" type="subTitle"/>
          </p:nvPr>
        </p:nvSpPr>
        <p:spPr>
          <a:xfrm>
            <a:off x="720025" y="1596850"/>
            <a:ext cx="24108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0" name="Google Shape;270;p41"/>
          <p:cNvSpPr txBox="1"/>
          <p:nvPr>
            <p:ph idx="6" type="subTitle"/>
          </p:nvPr>
        </p:nvSpPr>
        <p:spPr>
          <a:xfrm>
            <a:off x="3406962" y="1596852"/>
            <a:ext cx="24108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1" name="Google Shape;271;p41"/>
          <p:cNvSpPr txBox="1"/>
          <p:nvPr>
            <p:ph idx="7" type="subTitle"/>
          </p:nvPr>
        </p:nvSpPr>
        <p:spPr>
          <a:xfrm>
            <a:off x="6013200" y="1596851"/>
            <a:ext cx="24108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2" name="Google Shape;272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/>
          <p:nvPr>
            <p:ph idx="2" type="pic"/>
          </p:nvPr>
        </p:nvSpPr>
        <p:spPr>
          <a:xfrm>
            <a:off x="545870" y="543892"/>
            <a:ext cx="4284900" cy="43272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6" name="Google Shape;276;p42"/>
          <p:cNvSpPr txBox="1"/>
          <p:nvPr>
            <p:ph idx="1" type="subTitle"/>
          </p:nvPr>
        </p:nvSpPr>
        <p:spPr>
          <a:xfrm>
            <a:off x="720025" y="2411564"/>
            <a:ext cx="2410800" cy="16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42"/>
          <p:cNvSpPr txBox="1"/>
          <p:nvPr>
            <p:ph idx="3" type="subTitle"/>
          </p:nvPr>
        </p:nvSpPr>
        <p:spPr>
          <a:xfrm>
            <a:off x="3406962" y="2413664"/>
            <a:ext cx="2410800" cy="16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42"/>
          <p:cNvSpPr txBox="1"/>
          <p:nvPr>
            <p:ph idx="4" type="subTitle"/>
          </p:nvPr>
        </p:nvSpPr>
        <p:spPr>
          <a:xfrm>
            <a:off x="6013200" y="2413664"/>
            <a:ext cx="2410800" cy="16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42"/>
          <p:cNvSpPr txBox="1"/>
          <p:nvPr>
            <p:ph idx="5" type="subTitle"/>
          </p:nvPr>
        </p:nvSpPr>
        <p:spPr>
          <a:xfrm>
            <a:off x="720025" y="1912780"/>
            <a:ext cx="24108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0" name="Google Shape;280;p42"/>
          <p:cNvSpPr txBox="1"/>
          <p:nvPr>
            <p:ph idx="6" type="subTitle"/>
          </p:nvPr>
        </p:nvSpPr>
        <p:spPr>
          <a:xfrm>
            <a:off x="3406964" y="1912783"/>
            <a:ext cx="24108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1" name="Google Shape;281;p42"/>
          <p:cNvSpPr txBox="1"/>
          <p:nvPr>
            <p:ph idx="7" type="subTitle"/>
          </p:nvPr>
        </p:nvSpPr>
        <p:spPr>
          <a:xfrm>
            <a:off x="6013204" y="1912781"/>
            <a:ext cx="24108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2" name="Google Shape;282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16">
          <p15:clr>
            <a:srgbClr val="FA7B17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/>
          <p:nvPr>
            <p:ph idx="2" type="pic"/>
          </p:nvPr>
        </p:nvSpPr>
        <p:spPr>
          <a:xfrm>
            <a:off x="545870" y="553000"/>
            <a:ext cx="4284900" cy="43272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6" name="Google Shape;286;p43"/>
          <p:cNvSpPr txBox="1"/>
          <p:nvPr>
            <p:ph idx="1" type="subTitle"/>
          </p:nvPr>
        </p:nvSpPr>
        <p:spPr>
          <a:xfrm>
            <a:off x="1693375" y="1857195"/>
            <a:ext cx="24870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43"/>
          <p:cNvSpPr txBox="1"/>
          <p:nvPr>
            <p:ph idx="3" type="subTitle"/>
          </p:nvPr>
        </p:nvSpPr>
        <p:spPr>
          <a:xfrm>
            <a:off x="5149133" y="1857195"/>
            <a:ext cx="24870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43"/>
          <p:cNvSpPr txBox="1"/>
          <p:nvPr>
            <p:ph idx="4" type="subTitle"/>
          </p:nvPr>
        </p:nvSpPr>
        <p:spPr>
          <a:xfrm>
            <a:off x="1693375" y="3212595"/>
            <a:ext cx="24870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43"/>
          <p:cNvSpPr txBox="1"/>
          <p:nvPr>
            <p:ph idx="5" type="subTitle"/>
          </p:nvPr>
        </p:nvSpPr>
        <p:spPr>
          <a:xfrm>
            <a:off x="5149133" y="3212595"/>
            <a:ext cx="24870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43"/>
          <p:cNvSpPr txBox="1"/>
          <p:nvPr>
            <p:ph idx="6" type="subTitle"/>
          </p:nvPr>
        </p:nvSpPr>
        <p:spPr>
          <a:xfrm>
            <a:off x="1693376" y="1552395"/>
            <a:ext cx="24870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1" name="Google Shape;291;p43"/>
          <p:cNvSpPr txBox="1"/>
          <p:nvPr>
            <p:ph idx="7" type="subTitle"/>
          </p:nvPr>
        </p:nvSpPr>
        <p:spPr>
          <a:xfrm>
            <a:off x="5149138" y="1552395"/>
            <a:ext cx="24870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2" name="Google Shape;292;p43"/>
          <p:cNvSpPr txBox="1"/>
          <p:nvPr>
            <p:ph idx="8" type="subTitle"/>
          </p:nvPr>
        </p:nvSpPr>
        <p:spPr>
          <a:xfrm>
            <a:off x="1693376" y="2907795"/>
            <a:ext cx="24870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3" name="Google Shape;293;p43"/>
          <p:cNvSpPr txBox="1"/>
          <p:nvPr>
            <p:ph idx="9" type="subTitle"/>
          </p:nvPr>
        </p:nvSpPr>
        <p:spPr>
          <a:xfrm>
            <a:off x="5149138" y="2907795"/>
            <a:ext cx="24870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4" name="Google Shape;294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tle only 1">
  <p:cSld name="CUSTOM_7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7" name="Google Shape;297;p44"/>
          <p:cNvSpPr/>
          <p:nvPr/>
        </p:nvSpPr>
        <p:spPr>
          <a:xfrm>
            <a:off x="537300" y="1155850"/>
            <a:ext cx="8069100" cy="34527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rotWithShape="0" algn="bl" dir="4560000" dist="114300">
              <a:srgbClr val="000000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5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/>
          <p:nvPr>
            <p:ph hasCustomPrompt="1" type="title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1" name="Google Shape;301;p45"/>
          <p:cNvSpPr txBox="1"/>
          <p:nvPr>
            <p:ph idx="1" type="subTitle"/>
          </p:nvPr>
        </p:nvSpPr>
        <p:spPr>
          <a:xfrm>
            <a:off x="2397000" y="1427750"/>
            <a:ext cx="4350000" cy="3609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02" name="Google Shape;302;p45"/>
          <p:cNvSpPr txBox="1"/>
          <p:nvPr>
            <p:ph hasCustomPrompt="1" idx="2" type="title"/>
          </p:nvPr>
        </p:nvSpPr>
        <p:spPr>
          <a:xfrm>
            <a:off x="2223600" y="1967937"/>
            <a:ext cx="4696800" cy="7689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3" name="Google Shape;303;p45"/>
          <p:cNvSpPr txBox="1"/>
          <p:nvPr>
            <p:ph idx="3" type="subTitle"/>
          </p:nvPr>
        </p:nvSpPr>
        <p:spPr>
          <a:xfrm>
            <a:off x="2397000" y="2716363"/>
            <a:ext cx="4350000" cy="3609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04" name="Google Shape;304;p45"/>
          <p:cNvSpPr txBox="1"/>
          <p:nvPr>
            <p:ph hasCustomPrompt="1" idx="4" type="title"/>
          </p:nvPr>
        </p:nvSpPr>
        <p:spPr>
          <a:xfrm>
            <a:off x="2223600" y="3265649"/>
            <a:ext cx="4696800" cy="7689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5" name="Google Shape;305;p45"/>
          <p:cNvSpPr txBox="1"/>
          <p:nvPr>
            <p:ph idx="5" type="subTitle"/>
          </p:nvPr>
        </p:nvSpPr>
        <p:spPr>
          <a:xfrm>
            <a:off x="2397000" y="4004977"/>
            <a:ext cx="4350000" cy="3609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06" name="Google Shape;306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_1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6"/>
          <p:cNvSpPr/>
          <p:nvPr>
            <p:ph idx="2" type="pic"/>
          </p:nvPr>
        </p:nvSpPr>
        <p:spPr>
          <a:xfrm>
            <a:off x="4293425" y="539500"/>
            <a:ext cx="4132800" cy="40692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46"/>
          <p:cNvSpPr txBox="1"/>
          <p:nvPr>
            <p:ph type="title"/>
          </p:nvPr>
        </p:nvSpPr>
        <p:spPr>
          <a:xfrm>
            <a:off x="713250" y="752750"/>
            <a:ext cx="3506100" cy="8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0" name="Google Shape;310;p46"/>
          <p:cNvSpPr txBox="1"/>
          <p:nvPr>
            <p:ph idx="1" type="subTitle"/>
          </p:nvPr>
        </p:nvSpPr>
        <p:spPr>
          <a:xfrm>
            <a:off x="713225" y="1708815"/>
            <a:ext cx="3506100" cy="9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46"/>
          <p:cNvSpPr txBox="1"/>
          <p:nvPr/>
        </p:nvSpPr>
        <p:spPr>
          <a:xfrm>
            <a:off x="713250" y="3840550"/>
            <a:ext cx="35061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b="1" lang="en" sz="120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_8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_8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36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42.xml"/><Relationship Id="rId6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EFEF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sz="2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sz="2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sz="2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sz="2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sz="2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sz="2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sz="2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sz="2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sz="2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EFEFE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sz="2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sz="2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sz="2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sz="2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sz="2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sz="2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sz="2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sz="2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Black"/>
              <a:buNone/>
              <a:defRPr sz="28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4" name="Google Shape;164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9"/>
          <p:cNvSpPr/>
          <p:nvPr/>
        </p:nvSpPr>
        <p:spPr>
          <a:xfrm>
            <a:off x="414775" y="1396125"/>
            <a:ext cx="8366400" cy="34074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57163" rotWithShape="0" algn="bl" dir="4560000" dist="114300">
              <a:schemeClr val="dk1">
                <a:alpha val="13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9"/>
          <p:cNvSpPr txBox="1"/>
          <p:nvPr>
            <p:ph type="ctrTitle"/>
          </p:nvPr>
        </p:nvSpPr>
        <p:spPr>
          <a:xfrm>
            <a:off x="624475" y="1651263"/>
            <a:ext cx="7593300" cy="11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D</a:t>
            </a:r>
            <a:r>
              <a:rPr lang="en" sz="3200">
                <a:solidFill>
                  <a:srgbClr val="000000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esign and Analysis of Real Time Multi-Robot Task Allocation System </a:t>
            </a:r>
            <a:endParaRPr sz="3200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cxnSp>
        <p:nvCxnSpPr>
          <p:cNvPr id="323" name="Google Shape;323;p49"/>
          <p:cNvCxnSpPr/>
          <p:nvPr/>
        </p:nvCxnSpPr>
        <p:spPr>
          <a:xfrm>
            <a:off x="722600" y="2958150"/>
            <a:ext cx="742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24" name="Google Shape;324;p49" title="example.png"/>
          <p:cNvPicPr preferRelativeResize="0"/>
          <p:nvPr/>
        </p:nvPicPr>
        <p:blipFill rotWithShape="1">
          <a:blip r:embed="rId3">
            <a:alphaModFix/>
          </a:blip>
          <a:srcRect b="0" l="2098" r="2089" t="0"/>
          <a:stretch/>
        </p:blipFill>
        <p:spPr>
          <a:xfrm>
            <a:off x="722600" y="370020"/>
            <a:ext cx="571643" cy="78665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9"/>
          <p:cNvSpPr txBox="1"/>
          <p:nvPr/>
        </p:nvSpPr>
        <p:spPr>
          <a:xfrm>
            <a:off x="1396808" y="370000"/>
            <a:ext cx="4796700" cy="7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975" lIns="83975" spcFirstLastPara="1" rIns="83975" wrap="square" tIns="83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296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Yangon Technological University</a:t>
            </a:r>
            <a:endParaRPr b="1" i="1" sz="2296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21">
                <a:solidFill>
                  <a:srgbClr val="434343"/>
                </a:solidFill>
                <a:latin typeface="Roboto Medium"/>
                <a:ea typeface="Roboto Medium"/>
                <a:cs typeface="Roboto Medium"/>
                <a:sym typeface="Roboto Medium"/>
              </a:rPr>
              <a:t>Department of Electronic Engineering</a:t>
            </a:r>
            <a:endParaRPr i="1" sz="2021">
              <a:solidFill>
                <a:srgbClr val="434343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26" name="Google Shape;326;p49"/>
          <p:cNvSpPr/>
          <p:nvPr/>
        </p:nvSpPr>
        <p:spPr>
          <a:xfrm>
            <a:off x="6157125" y="614393"/>
            <a:ext cx="2274600" cy="3759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76975" lIns="76975" spcFirstLastPara="1" rIns="76975" wrap="square" tIns="76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9">
              <a:highlight>
                <a:srgbClr val="C3D3DD"/>
              </a:highlight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27" name="Google Shape;327;p49"/>
          <p:cNvSpPr txBox="1"/>
          <p:nvPr/>
        </p:nvSpPr>
        <p:spPr>
          <a:xfrm>
            <a:off x="624475" y="3841550"/>
            <a:ext cx="366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00">
                <a:solidFill>
                  <a:srgbClr val="FF8578"/>
                </a:solidFill>
                <a:latin typeface="Roboto"/>
                <a:ea typeface="Roboto"/>
                <a:cs typeface="Roboto"/>
                <a:sym typeface="Roboto"/>
              </a:rPr>
              <a:t>Date: 23.7.2026 (Thursday)</a:t>
            </a:r>
            <a:endParaRPr b="1" sz="1700">
              <a:solidFill>
                <a:srgbClr val="FF857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49"/>
          <p:cNvSpPr txBox="1"/>
          <p:nvPr/>
        </p:nvSpPr>
        <p:spPr>
          <a:xfrm>
            <a:off x="6157125" y="562050"/>
            <a:ext cx="271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75" lIns="76975" spcFirstLastPara="1" rIns="76975" wrap="square" tIns="76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89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PROGRESS SEMINAR</a:t>
            </a:r>
            <a:endParaRPr b="1" i="1" sz="211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49"/>
          <p:cNvSpPr txBox="1"/>
          <p:nvPr/>
        </p:nvSpPr>
        <p:spPr>
          <a:xfrm>
            <a:off x="624475" y="3199275"/>
            <a:ext cx="5346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6323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Presented by:</a:t>
            </a:r>
            <a:endParaRPr sz="1900">
              <a:solidFill>
                <a:srgbClr val="263238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6323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Min Thant Kyaw (VI EC-1)</a:t>
            </a:r>
            <a:endParaRPr sz="1900">
              <a:solidFill>
                <a:srgbClr val="263238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30" name="Google Shape;330;p49"/>
          <p:cNvSpPr txBox="1"/>
          <p:nvPr/>
        </p:nvSpPr>
        <p:spPr>
          <a:xfrm>
            <a:off x="4155425" y="3245000"/>
            <a:ext cx="47967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6323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Supervisor	: Dr. Khin Kyu Kyu Win</a:t>
            </a:r>
            <a:endParaRPr sz="1900">
              <a:solidFill>
                <a:srgbClr val="263238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6323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Members	: Daw Thi Thi Soe</a:t>
            </a:r>
            <a:endParaRPr sz="1900">
              <a:solidFill>
                <a:srgbClr val="263238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6323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 Daw Zin Nwe Nyo Htun</a:t>
            </a:r>
            <a:endParaRPr sz="1900">
              <a:solidFill>
                <a:srgbClr val="263238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6323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Chairman	: Dr. Lei Lei Yin Win</a:t>
            </a:r>
            <a:endParaRPr sz="1900">
              <a:solidFill>
                <a:srgbClr val="263238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63238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31" name="Google Shape;331;p49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2" name="Google Shape;332;p49"/>
          <p:cNvCxnSpPr/>
          <p:nvPr/>
        </p:nvCxnSpPr>
        <p:spPr>
          <a:xfrm>
            <a:off x="722600" y="1506538"/>
            <a:ext cx="742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0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50"/>
          <p:cNvSpPr txBox="1"/>
          <p:nvPr/>
        </p:nvSpPr>
        <p:spPr>
          <a:xfrm>
            <a:off x="820977" y="1436763"/>
            <a:ext cx="819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97369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sz="3100">
              <a:solidFill>
                <a:srgbClr val="F973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50"/>
          <p:cNvSpPr txBox="1"/>
          <p:nvPr/>
        </p:nvSpPr>
        <p:spPr>
          <a:xfrm>
            <a:off x="820991" y="2131908"/>
            <a:ext cx="819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97369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sz="3100">
              <a:solidFill>
                <a:srgbClr val="F973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50"/>
          <p:cNvSpPr txBox="1"/>
          <p:nvPr/>
        </p:nvSpPr>
        <p:spPr>
          <a:xfrm flipH="1">
            <a:off x="1654478" y="2181465"/>
            <a:ext cx="3265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Roboto"/>
                <a:ea typeface="Roboto"/>
                <a:cs typeface="Roboto"/>
                <a:sym typeface="Roboto"/>
              </a:rPr>
              <a:t>Previous Work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50"/>
          <p:cNvSpPr txBox="1"/>
          <p:nvPr/>
        </p:nvSpPr>
        <p:spPr>
          <a:xfrm flipH="1">
            <a:off x="1654477" y="1492238"/>
            <a:ext cx="2482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Roboto"/>
                <a:ea typeface="Roboto"/>
                <a:cs typeface="Roboto"/>
                <a:sym typeface="Roboto"/>
              </a:rPr>
              <a:t>Introduction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50"/>
          <p:cNvSpPr txBox="1"/>
          <p:nvPr/>
        </p:nvSpPr>
        <p:spPr>
          <a:xfrm>
            <a:off x="820977" y="2827053"/>
            <a:ext cx="819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97369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sz="3100">
              <a:solidFill>
                <a:srgbClr val="F973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50"/>
          <p:cNvSpPr txBox="1"/>
          <p:nvPr/>
        </p:nvSpPr>
        <p:spPr>
          <a:xfrm>
            <a:off x="4619341" y="1477829"/>
            <a:ext cx="819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97369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sz="3100">
              <a:solidFill>
                <a:srgbClr val="F973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50"/>
          <p:cNvSpPr txBox="1"/>
          <p:nvPr/>
        </p:nvSpPr>
        <p:spPr>
          <a:xfrm flipH="1">
            <a:off x="5452953" y="1506673"/>
            <a:ext cx="3909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Roboto"/>
                <a:ea typeface="Roboto"/>
                <a:cs typeface="Roboto"/>
                <a:sym typeface="Roboto"/>
              </a:rPr>
              <a:t>Research</a:t>
            </a:r>
            <a:r>
              <a:rPr b="1" lang="en" sz="2200">
                <a:latin typeface="Roboto"/>
                <a:ea typeface="Roboto"/>
                <a:cs typeface="Roboto"/>
                <a:sym typeface="Roboto"/>
              </a:rPr>
              <a:t> Timeline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50"/>
          <p:cNvSpPr txBox="1"/>
          <p:nvPr/>
        </p:nvSpPr>
        <p:spPr>
          <a:xfrm flipH="1">
            <a:off x="1654453" y="2870692"/>
            <a:ext cx="3052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Roboto"/>
                <a:ea typeface="Roboto"/>
                <a:cs typeface="Roboto"/>
                <a:sym typeface="Roboto"/>
              </a:rPr>
              <a:t>Current Progress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50"/>
          <p:cNvSpPr txBox="1"/>
          <p:nvPr/>
        </p:nvSpPr>
        <p:spPr>
          <a:xfrm>
            <a:off x="4619341" y="2159285"/>
            <a:ext cx="819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97369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sz="3100">
              <a:solidFill>
                <a:srgbClr val="F973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50"/>
          <p:cNvSpPr txBox="1"/>
          <p:nvPr/>
        </p:nvSpPr>
        <p:spPr>
          <a:xfrm flipH="1">
            <a:off x="5452953" y="2191089"/>
            <a:ext cx="3909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Roboto"/>
                <a:ea typeface="Roboto"/>
                <a:cs typeface="Roboto"/>
                <a:sym typeface="Roboto"/>
              </a:rPr>
              <a:t>Future Work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50"/>
          <p:cNvSpPr txBox="1"/>
          <p:nvPr/>
        </p:nvSpPr>
        <p:spPr>
          <a:xfrm>
            <a:off x="4619341" y="2840742"/>
            <a:ext cx="819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97369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sz="3100">
              <a:solidFill>
                <a:srgbClr val="F973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50"/>
          <p:cNvSpPr txBox="1"/>
          <p:nvPr/>
        </p:nvSpPr>
        <p:spPr>
          <a:xfrm flipH="1">
            <a:off x="5452953" y="2875504"/>
            <a:ext cx="3909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Roboto"/>
                <a:ea typeface="Roboto"/>
                <a:cs typeface="Roboto"/>
                <a:sym typeface="Roboto"/>
              </a:rPr>
              <a:t>Conclusion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50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50"/>
          <p:cNvSpPr txBox="1"/>
          <p:nvPr/>
        </p:nvSpPr>
        <p:spPr>
          <a:xfrm>
            <a:off x="820977" y="3522198"/>
            <a:ext cx="819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97369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sz="3100">
              <a:solidFill>
                <a:srgbClr val="F973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50"/>
          <p:cNvSpPr txBox="1"/>
          <p:nvPr/>
        </p:nvSpPr>
        <p:spPr>
          <a:xfrm flipH="1">
            <a:off x="1654453" y="3559920"/>
            <a:ext cx="3052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Roboto"/>
                <a:ea typeface="Roboto"/>
                <a:cs typeface="Roboto"/>
                <a:sym typeface="Roboto"/>
              </a:rPr>
              <a:t>Tests &amp; Results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50"/>
          <p:cNvSpPr txBox="1"/>
          <p:nvPr/>
        </p:nvSpPr>
        <p:spPr>
          <a:xfrm>
            <a:off x="4651246" y="3522198"/>
            <a:ext cx="819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97369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sz="3100">
              <a:solidFill>
                <a:srgbClr val="F973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50"/>
          <p:cNvSpPr txBox="1"/>
          <p:nvPr/>
        </p:nvSpPr>
        <p:spPr>
          <a:xfrm flipH="1">
            <a:off x="5484722" y="3559920"/>
            <a:ext cx="3052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Roboto"/>
                <a:ea typeface="Roboto"/>
                <a:cs typeface="Roboto"/>
                <a:sym typeface="Roboto"/>
              </a:rPr>
              <a:t>References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6" name="Google Shape;356;p50"/>
          <p:cNvSpPr txBox="1"/>
          <p:nvPr>
            <p:ph type="title"/>
          </p:nvPr>
        </p:nvSpPr>
        <p:spPr>
          <a:xfrm>
            <a:off x="772376" y="114150"/>
            <a:ext cx="51774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Outline of Presentation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1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51"/>
          <p:cNvSpPr txBox="1"/>
          <p:nvPr>
            <p:ph idx="12" type="sldNum"/>
          </p:nvPr>
        </p:nvSpPr>
        <p:spPr>
          <a:xfrm>
            <a:off x="8556784" y="47155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3" name="Google Shape;363;p51"/>
          <p:cNvSpPr txBox="1"/>
          <p:nvPr>
            <p:ph type="title"/>
          </p:nvPr>
        </p:nvSpPr>
        <p:spPr>
          <a:xfrm>
            <a:off x="77237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. Introduction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51"/>
          <p:cNvSpPr/>
          <p:nvPr/>
        </p:nvSpPr>
        <p:spPr>
          <a:xfrm>
            <a:off x="2925900" y="911834"/>
            <a:ext cx="2782200" cy="450900"/>
          </a:xfrm>
          <a:prstGeom prst="rect">
            <a:avLst/>
          </a:prstGeom>
          <a:solidFill>
            <a:schemeClr val="lt1"/>
          </a:solidFill>
          <a:ln cap="flat" cmpd="sng" w="8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75" lIns="84075" spcFirstLastPara="1" rIns="84075" wrap="square" tIns="8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9"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9">
                <a:latin typeface="Roboto SemiBold"/>
                <a:ea typeface="Roboto SemiBold"/>
                <a:cs typeface="Roboto SemiBold"/>
                <a:sym typeface="Roboto SemiBold"/>
              </a:rPr>
              <a:t>Website User Interface</a:t>
            </a:r>
            <a:endParaRPr sz="1379"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-291961" lvl="0" marL="420425" rtl="0" algn="l">
              <a:spcBef>
                <a:spcPts val="0"/>
              </a:spcBef>
              <a:spcAft>
                <a:spcPts val="0"/>
              </a:spcAft>
              <a:buSzPts val="1287"/>
              <a:buFont typeface="Roboto"/>
              <a:buChar char="●"/>
            </a:pPr>
            <a:r>
              <a:rPr lang="en" sz="1287">
                <a:latin typeface="Roboto"/>
                <a:ea typeface="Roboto"/>
                <a:cs typeface="Roboto"/>
                <a:sym typeface="Roboto"/>
              </a:rPr>
              <a:t>Create Tasks</a:t>
            </a:r>
            <a:endParaRPr sz="1379"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9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65" name="Google Shape;365;p51"/>
          <p:cNvSpPr/>
          <p:nvPr/>
        </p:nvSpPr>
        <p:spPr>
          <a:xfrm>
            <a:off x="2925900" y="1540069"/>
            <a:ext cx="2782200" cy="1051500"/>
          </a:xfrm>
          <a:prstGeom prst="rect">
            <a:avLst/>
          </a:prstGeom>
          <a:solidFill>
            <a:srgbClr val="F4CCCC"/>
          </a:solidFill>
          <a:ln cap="flat" cmpd="sng" w="26275">
            <a:solidFill>
              <a:srgbClr val="F97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75" lIns="84075" spcFirstLastPara="1" rIns="84075" wrap="square" tIns="8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9">
                <a:latin typeface="Roboto SemiBold"/>
                <a:ea typeface="Roboto SemiBold"/>
                <a:cs typeface="Roboto SemiBold"/>
                <a:sym typeface="Roboto SemiBold"/>
              </a:rPr>
              <a:t>Task Allocation &amp; Scheduling</a:t>
            </a:r>
            <a:endParaRPr sz="1379"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-291961" lvl="0" marL="420425" rtl="0" algn="l">
              <a:spcBef>
                <a:spcPts val="0"/>
              </a:spcBef>
              <a:spcAft>
                <a:spcPts val="0"/>
              </a:spcAft>
              <a:buSzPts val="1287"/>
              <a:buFont typeface="Roboto"/>
              <a:buChar char="●"/>
            </a:pPr>
            <a:r>
              <a:rPr lang="en" sz="1287">
                <a:latin typeface="Roboto"/>
                <a:ea typeface="Roboto"/>
                <a:cs typeface="Roboto"/>
                <a:sym typeface="Roboto"/>
              </a:rPr>
              <a:t>MILP Dataset Generation</a:t>
            </a:r>
            <a:endParaRPr sz="1287">
              <a:latin typeface="Roboto"/>
              <a:ea typeface="Roboto"/>
              <a:cs typeface="Roboto"/>
              <a:sym typeface="Roboto"/>
            </a:endParaRPr>
          </a:p>
          <a:p>
            <a:pPr indent="-291961" lvl="0" marL="420425" rtl="0" algn="l">
              <a:spcBef>
                <a:spcPts val="0"/>
              </a:spcBef>
              <a:spcAft>
                <a:spcPts val="0"/>
              </a:spcAft>
              <a:buSzPts val="1287"/>
              <a:buFont typeface="Roboto"/>
              <a:buChar char="●"/>
            </a:pPr>
            <a:r>
              <a:rPr lang="en" sz="1287">
                <a:latin typeface="Roboto"/>
                <a:ea typeface="Roboto"/>
                <a:cs typeface="Roboto"/>
                <a:sym typeface="Roboto"/>
              </a:rPr>
              <a:t>XGBoost Classifier Training</a:t>
            </a:r>
            <a:endParaRPr sz="1287">
              <a:latin typeface="Roboto"/>
              <a:ea typeface="Roboto"/>
              <a:cs typeface="Roboto"/>
              <a:sym typeface="Roboto"/>
            </a:endParaRPr>
          </a:p>
          <a:p>
            <a:pPr indent="-291961" lvl="0" marL="420425" rtl="0" algn="l">
              <a:spcBef>
                <a:spcPts val="0"/>
              </a:spcBef>
              <a:spcAft>
                <a:spcPts val="0"/>
              </a:spcAft>
              <a:buSzPts val="1287"/>
              <a:buFont typeface="Roboto"/>
              <a:buChar char="●"/>
            </a:pPr>
            <a:r>
              <a:rPr lang="en" sz="1287">
                <a:latin typeface="Roboto"/>
                <a:ea typeface="Roboto"/>
                <a:cs typeface="Roboto"/>
                <a:sym typeface="Roboto"/>
              </a:rPr>
              <a:t>Optimized Task Assignment</a:t>
            </a:r>
            <a:endParaRPr sz="1287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51"/>
          <p:cNvSpPr/>
          <p:nvPr/>
        </p:nvSpPr>
        <p:spPr>
          <a:xfrm>
            <a:off x="2925900" y="2746034"/>
            <a:ext cx="2782200" cy="1229700"/>
          </a:xfrm>
          <a:prstGeom prst="rect">
            <a:avLst/>
          </a:prstGeom>
          <a:solidFill>
            <a:schemeClr val="lt1"/>
          </a:solidFill>
          <a:ln cap="flat" cmpd="sng" w="8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75" lIns="84075" spcFirstLastPara="1" rIns="84075" wrap="square" tIns="8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9">
                <a:latin typeface="Roboto SemiBold"/>
                <a:ea typeface="Roboto SemiBold"/>
                <a:cs typeface="Roboto SemiBold"/>
                <a:sym typeface="Roboto SemiBold"/>
              </a:rPr>
              <a:t>Central Server</a:t>
            </a:r>
            <a:endParaRPr sz="1379"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-291961" lvl="0" marL="4204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87"/>
              <a:buFont typeface="Roboto"/>
              <a:buChar char="●"/>
            </a:pPr>
            <a:r>
              <a:rPr lang="en" sz="1287">
                <a:latin typeface="Roboto"/>
                <a:ea typeface="Roboto"/>
                <a:cs typeface="Roboto"/>
                <a:sym typeface="Roboto"/>
              </a:rPr>
              <a:t>Task Management</a:t>
            </a:r>
            <a:endParaRPr sz="1287">
              <a:latin typeface="Roboto"/>
              <a:ea typeface="Roboto"/>
              <a:cs typeface="Roboto"/>
              <a:sym typeface="Roboto"/>
            </a:endParaRPr>
          </a:p>
          <a:p>
            <a:pPr indent="-291961" lvl="0" marL="4204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87"/>
              <a:buFont typeface="Roboto"/>
              <a:buChar char="●"/>
            </a:pPr>
            <a:r>
              <a:rPr lang="en" sz="1287">
                <a:latin typeface="Roboto"/>
                <a:ea typeface="Roboto"/>
                <a:cs typeface="Roboto"/>
                <a:sym typeface="Roboto"/>
              </a:rPr>
              <a:t>Map &amp; Checkpoints</a:t>
            </a:r>
            <a:endParaRPr sz="1287">
              <a:latin typeface="Roboto"/>
              <a:ea typeface="Roboto"/>
              <a:cs typeface="Roboto"/>
              <a:sym typeface="Roboto"/>
            </a:endParaRPr>
          </a:p>
          <a:p>
            <a:pPr indent="-291961" lvl="0" marL="4204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87"/>
              <a:buFont typeface="Roboto"/>
              <a:buChar char="●"/>
            </a:pPr>
            <a:r>
              <a:rPr lang="en" sz="1287">
                <a:latin typeface="Roboto"/>
                <a:ea typeface="Roboto"/>
                <a:cs typeface="Roboto"/>
                <a:sym typeface="Roboto"/>
              </a:rPr>
              <a:t>Robot Status Monitor</a:t>
            </a:r>
            <a:endParaRPr sz="1287">
              <a:latin typeface="Roboto"/>
              <a:ea typeface="Roboto"/>
              <a:cs typeface="Roboto"/>
              <a:sym typeface="Roboto"/>
            </a:endParaRPr>
          </a:p>
          <a:p>
            <a:pPr indent="-291961" lvl="0" marL="420425" rtl="0" algn="l">
              <a:spcBef>
                <a:spcPts val="0"/>
              </a:spcBef>
              <a:spcAft>
                <a:spcPts val="0"/>
              </a:spcAft>
              <a:buSzPts val="1287"/>
              <a:buFont typeface="Roboto"/>
              <a:buChar char="●"/>
            </a:pPr>
            <a:r>
              <a:rPr lang="en" sz="1287">
                <a:latin typeface="Roboto"/>
                <a:ea typeface="Roboto"/>
                <a:cs typeface="Roboto"/>
                <a:sym typeface="Roboto"/>
              </a:rPr>
              <a:t>Communication Hub</a:t>
            </a:r>
            <a:endParaRPr sz="1379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67" name="Google Shape;367;p51"/>
          <p:cNvSpPr/>
          <p:nvPr/>
        </p:nvSpPr>
        <p:spPr>
          <a:xfrm>
            <a:off x="780692" y="2597908"/>
            <a:ext cx="1859700" cy="1374600"/>
          </a:xfrm>
          <a:prstGeom prst="rect">
            <a:avLst/>
          </a:prstGeom>
          <a:solidFill>
            <a:srgbClr val="FCE5CD"/>
          </a:solidFill>
          <a:ln cap="flat" cmpd="sng" w="262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75" lIns="84075" spcFirstLastPara="1" rIns="84075" wrap="square" tIns="8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7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51"/>
          <p:cNvSpPr txBox="1"/>
          <p:nvPr/>
        </p:nvSpPr>
        <p:spPr>
          <a:xfrm>
            <a:off x="756025" y="2940056"/>
            <a:ext cx="22221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4075" lIns="84075" spcFirstLastPara="1" rIns="84075" wrap="square" tIns="84075">
            <a:spAutoFit/>
          </a:bodyPr>
          <a:lstStyle/>
          <a:p>
            <a:pPr indent="-291961" lvl="0" marL="420425" rtl="0" algn="l">
              <a:spcBef>
                <a:spcPts val="0"/>
              </a:spcBef>
              <a:spcAft>
                <a:spcPts val="0"/>
              </a:spcAft>
              <a:buSzPts val="1287"/>
              <a:buFont typeface="Roboto"/>
              <a:buChar char="●"/>
            </a:pPr>
            <a:r>
              <a:rPr lang="en" sz="1287">
                <a:latin typeface="Roboto"/>
                <a:ea typeface="Roboto"/>
                <a:cs typeface="Roboto"/>
                <a:sym typeface="Roboto"/>
              </a:rPr>
              <a:t>ESP32-CAM</a:t>
            </a:r>
            <a:endParaRPr sz="1287">
              <a:latin typeface="Roboto"/>
              <a:ea typeface="Roboto"/>
              <a:cs typeface="Roboto"/>
              <a:sym typeface="Roboto"/>
            </a:endParaRPr>
          </a:p>
          <a:p>
            <a:pPr indent="-291961" lvl="0" marL="420425" rtl="0" algn="l">
              <a:spcBef>
                <a:spcPts val="0"/>
              </a:spcBef>
              <a:spcAft>
                <a:spcPts val="0"/>
              </a:spcAft>
              <a:buSzPts val="1287"/>
              <a:buFont typeface="Roboto"/>
              <a:buChar char="●"/>
            </a:pPr>
            <a:r>
              <a:rPr lang="en" sz="1287">
                <a:latin typeface="Roboto"/>
                <a:ea typeface="Roboto"/>
                <a:cs typeface="Roboto"/>
                <a:sym typeface="Roboto"/>
              </a:rPr>
              <a:t>QR Recognition</a:t>
            </a:r>
            <a:endParaRPr sz="1287">
              <a:latin typeface="Roboto"/>
              <a:ea typeface="Roboto"/>
              <a:cs typeface="Roboto"/>
              <a:sym typeface="Roboto"/>
            </a:endParaRPr>
          </a:p>
          <a:p>
            <a:pPr indent="-291961" lvl="0" marL="420425" rtl="0" algn="l">
              <a:spcBef>
                <a:spcPts val="0"/>
              </a:spcBef>
              <a:spcAft>
                <a:spcPts val="0"/>
              </a:spcAft>
              <a:buSzPts val="1287"/>
              <a:buFont typeface="Roboto"/>
              <a:buChar char="●"/>
            </a:pPr>
            <a:r>
              <a:rPr lang="en" sz="1287">
                <a:latin typeface="Roboto"/>
                <a:ea typeface="Roboto"/>
                <a:cs typeface="Roboto"/>
                <a:sym typeface="Roboto"/>
              </a:rPr>
              <a:t>Robot/ Object Detection</a:t>
            </a:r>
            <a:endParaRPr sz="1287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51"/>
          <p:cNvSpPr txBox="1"/>
          <p:nvPr/>
        </p:nvSpPr>
        <p:spPr>
          <a:xfrm>
            <a:off x="920529" y="2669841"/>
            <a:ext cx="1658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4075" lIns="84075" spcFirstLastPara="1" rIns="84075" wrap="square" tIns="84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9">
                <a:latin typeface="Roboto SemiBold"/>
                <a:ea typeface="Roboto SemiBold"/>
                <a:cs typeface="Roboto SemiBold"/>
                <a:sym typeface="Roboto SemiBold"/>
              </a:rPr>
              <a:t>Vision System</a:t>
            </a:r>
            <a:endParaRPr sz="128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51"/>
          <p:cNvSpPr/>
          <p:nvPr/>
        </p:nvSpPr>
        <p:spPr>
          <a:xfrm>
            <a:off x="5983578" y="2033271"/>
            <a:ext cx="2544600" cy="1124100"/>
          </a:xfrm>
          <a:prstGeom prst="rect">
            <a:avLst/>
          </a:prstGeom>
          <a:solidFill>
            <a:srgbClr val="D9EAD3"/>
          </a:solidFill>
          <a:ln cap="flat" cmpd="sng" w="262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75" lIns="84075" spcFirstLastPara="1" rIns="84075" wrap="square" tIns="8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7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51"/>
          <p:cNvSpPr txBox="1"/>
          <p:nvPr/>
        </p:nvSpPr>
        <p:spPr>
          <a:xfrm>
            <a:off x="6000213" y="2325993"/>
            <a:ext cx="25446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84075" lIns="84075" spcFirstLastPara="1" rIns="84075" wrap="square" tIns="84075">
            <a:spAutoFit/>
          </a:bodyPr>
          <a:lstStyle/>
          <a:p>
            <a:pPr indent="-291961" lvl="0" marL="420425" rtl="0" algn="l">
              <a:spcBef>
                <a:spcPts val="0"/>
              </a:spcBef>
              <a:spcAft>
                <a:spcPts val="0"/>
              </a:spcAft>
              <a:buSzPts val="1287"/>
              <a:buFont typeface="Roboto"/>
              <a:buChar char="●"/>
            </a:pPr>
            <a:r>
              <a:rPr lang="en" sz="1287">
                <a:latin typeface="Roboto"/>
                <a:ea typeface="Roboto"/>
                <a:cs typeface="Roboto"/>
                <a:sym typeface="Roboto"/>
              </a:rPr>
              <a:t>A* Path Planning</a:t>
            </a:r>
            <a:endParaRPr sz="1287">
              <a:latin typeface="Roboto"/>
              <a:ea typeface="Roboto"/>
              <a:cs typeface="Roboto"/>
              <a:sym typeface="Roboto"/>
            </a:endParaRPr>
          </a:p>
          <a:p>
            <a:pPr indent="-291961" lvl="0" marL="420425" rtl="0" algn="l">
              <a:spcBef>
                <a:spcPts val="0"/>
              </a:spcBef>
              <a:spcAft>
                <a:spcPts val="0"/>
              </a:spcAft>
              <a:buSzPts val="1287"/>
              <a:buFont typeface="Roboto"/>
              <a:buChar char="●"/>
            </a:pPr>
            <a:r>
              <a:rPr lang="en" sz="1287">
                <a:latin typeface="Roboto"/>
                <a:ea typeface="Roboto"/>
                <a:cs typeface="Roboto"/>
                <a:sym typeface="Roboto"/>
              </a:rPr>
              <a:t>Determine Optimal Route</a:t>
            </a:r>
            <a:endParaRPr sz="1287">
              <a:latin typeface="Roboto"/>
              <a:ea typeface="Roboto"/>
              <a:cs typeface="Roboto"/>
              <a:sym typeface="Roboto"/>
            </a:endParaRPr>
          </a:p>
          <a:p>
            <a:pPr indent="-291961" lvl="0" marL="420425" rtl="0" algn="l">
              <a:spcBef>
                <a:spcPts val="0"/>
              </a:spcBef>
              <a:spcAft>
                <a:spcPts val="0"/>
              </a:spcAft>
              <a:buSzPts val="1287"/>
              <a:buFont typeface="Roboto"/>
              <a:buChar char="●"/>
            </a:pPr>
            <a:r>
              <a:rPr lang="en" sz="1287">
                <a:latin typeface="Roboto"/>
                <a:ea typeface="Roboto"/>
                <a:cs typeface="Roboto"/>
                <a:sym typeface="Roboto"/>
              </a:rPr>
              <a:t>Dynamic Replanning</a:t>
            </a:r>
            <a:endParaRPr sz="1287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51"/>
          <p:cNvSpPr txBox="1"/>
          <p:nvPr/>
        </p:nvSpPr>
        <p:spPr>
          <a:xfrm>
            <a:off x="6083640" y="2055767"/>
            <a:ext cx="2884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4075" lIns="84075" spcFirstLastPara="1" rIns="84075" wrap="square" tIns="84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9">
                <a:latin typeface="Roboto SemiBold"/>
                <a:ea typeface="Roboto SemiBold"/>
                <a:cs typeface="Roboto SemiBold"/>
                <a:sym typeface="Roboto SemiBold"/>
              </a:rPr>
              <a:t>Path Planning &amp;</a:t>
            </a:r>
            <a:r>
              <a:rPr lang="en" sz="1379">
                <a:latin typeface="Roboto SemiBold"/>
                <a:ea typeface="Roboto SemiBold"/>
                <a:cs typeface="Roboto SemiBold"/>
                <a:sym typeface="Roboto SemiBold"/>
              </a:rPr>
              <a:t> </a:t>
            </a:r>
            <a:r>
              <a:rPr lang="en" sz="1379">
                <a:latin typeface="Roboto SemiBold"/>
                <a:ea typeface="Roboto SemiBold"/>
                <a:cs typeface="Roboto SemiBold"/>
                <a:sym typeface="Roboto SemiBold"/>
              </a:rPr>
              <a:t>Navigation</a:t>
            </a:r>
            <a:endParaRPr sz="128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51"/>
          <p:cNvSpPr/>
          <p:nvPr/>
        </p:nvSpPr>
        <p:spPr>
          <a:xfrm>
            <a:off x="6000223" y="3294460"/>
            <a:ext cx="2544600" cy="1311600"/>
          </a:xfrm>
          <a:prstGeom prst="rect">
            <a:avLst/>
          </a:prstGeom>
          <a:solidFill>
            <a:srgbClr val="C9DAF8"/>
          </a:solidFill>
          <a:ln cap="flat" cmpd="sng" w="262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75" lIns="84075" spcFirstLastPara="1" rIns="84075" wrap="square" tIns="8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7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51"/>
          <p:cNvSpPr txBox="1"/>
          <p:nvPr/>
        </p:nvSpPr>
        <p:spPr>
          <a:xfrm>
            <a:off x="5951543" y="3609204"/>
            <a:ext cx="25446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4075" lIns="84075" spcFirstLastPara="1" rIns="84075" wrap="square" tIns="84075">
            <a:spAutoFit/>
          </a:bodyPr>
          <a:lstStyle/>
          <a:p>
            <a:pPr indent="-291961" lvl="0" marL="420425" rtl="0" algn="l">
              <a:spcBef>
                <a:spcPts val="0"/>
              </a:spcBef>
              <a:spcAft>
                <a:spcPts val="0"/>
              </a:spcAft>
              <a:buSzPts val="1287"/>
              <a:buFont typeface="Roboto"/>
              <a:buChar char="●"/>
            </a:pPr>
            <a:r>
              <a:rPr lang="en" sz="1287"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" sz="1287">
                <a:latin typeface="Roboto"/>
                <a:ea typeface="Roboto"/>
                <a:cs typeface="Roboto"/>
                <a:sym typeface="Roboto"/>
              </a:rPr>
              <a:t>ine Following</a:t>
            </a:r>
            <a:endParaRPr sz="1287">
              <a:latin typeface="Roboto"/>
              <a:ea typeface="Roboto"/>
              <a:cs typeface="Roboto"/>
              <a:sym typeface="Roboto"/>
            </a:endParaRPr>
          </a:p>
          <a:p>
            <a:pPr indent="-291961" lvl="0" marL="420425" rtl="0" algn="l">
              <a:spcBef>
                <a:spcPts val="0"/>
              </a:spcBef>
              <a:spcAft>
                <a:spcPts val="0"/>
              </a:spcAft>
              <a:buSzPts val="1287"/>
              <a:buFont typeface="Roboto"/>
              <a:buChar char="●"/>
            </a:pPr>
            <a:r>
              <a:rPr lang="en" sz="1287">
                <a:latin typeface="Roboto"/>
                <a:ea typeface="Roboto"/>
                <a:cs typeface="Roboto"/>
                <a:sym typeface="Roboto"/>
              </a:rPr>
              <a:t>(PID Control)</a:t>
            </a:r>
            <a:endParaRPr sz="1287">
              <a:latin typeface="Roboto"/>
              <a:ea typeface="Roboto"/>
              <a:cs typeface="Roboto"/>
              <a:sym typeface="Roboto"/>
            </a:endParaRPr>
          </a:p>
          <a:p>
            <a:pPr indent="-291961" lvl="0" marL="420425" rtl="0" algn="l">
              <a:spcBef>
                <a:spcPts val="0"/>
              </a:spcBef>
              <a:spcAft>
                <a:spcPts val="0"/>
              </a:spcAft>
              <a:buSzPts val="1287"/>
              <a:buFont typeface="Roboto"/>
              <a:buChar char="●"/>
            </a:pPr>
            <a:r>
              <a:rPr lang="en" sz="1287">
                <a:latin typeface="Roboto"/>
                <a:ea typeface="Roboto"/>
                <a:cs typeface="Roboto"/>
                <a:sym typeface="Roboto"/>
              </a:rPr>
              <a:t>RFID Localization</a:t>
            </a:r>
            <a:endParaRPr sz="1287">
              <a:latin typeface="Roboto"/>
              <a:ea typeface="Roboto"/>
              <a:cs typeface="Roboto"/>
              <a:sym typeface="Roboto"/>
            </a:endParaRPr>
          </a:p>
          <a:p>
            <a:pPr indent="-291961" lvl="0" marL="420425" rtl="0" algn="l">
              <a:spcBef>
                <a:spcPts val="0"/>
              </a:spcBef>
              <a:spcAft>
                <a:spcPts val="0"/>
              </a:spcAft>
              <a:buSzPts val="1287"/>
              <a:buFont typeface="Roboto"/>
              <a:buChar char="●"/>
            </a:pPr>
            <a:r>
              <a:rPr lang="en" sz="1287">
                <a:latin typeface="Roboto"/>
                <a:ea typeface="Roboto"/>
                <a:cs typeface="Roboto"/>
                <a:sym typeface="Roboto"/>
              </a:rPr>
              <a:t>Encoder Feedback</a:t>
            </a:r>
            <a:endParaRPr sz="1287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51"/>
          <p:cNvSpPr txBox="1"/>
          <p:nvPr/>
        </p:nvSpPr>
        <p:spPr>
          <a:xfrm>
            <a:off x="6165217" y="3328748"/>
            <a:ext cx="2331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4075" lIns="84075" spcFirstLastPara="1" rIns="84075" wrap="square" tIns="84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9">
                <a:latin typeface="Roboto SemiBold"/>
                <a:ea typeface="Roboto SemiBold"/>
                <a:cs typeface="Roboto SemiBold"/>
                <a:sym typeface="Roboto SemiBold"/>
              </a:rPr>
              <a:t>AGV Control &amp; Localization</a:t>
            </a:r>
            <a:endParaRPr sz="128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51"/>
          <p:cNvSpPr/>
          <p:nvPr/>
        </p:nvSpPr>
        <p:spPr>
          <a:xfrm>
            <a:off x="2925902" y="4177814"/>
            <a:ext cx="1243500" cy="382200"/>
          </a:xfrm>
          <a:prstGeom prst="rect">
            <a:avLst/>
          </a:prstGeom>
          <a:solidFill>
            <a:schemeClr val="lt1"/>
          </a:solidFill>
          <a:ln cap="flat" cmpd="sng" w="8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75" lIns="84075" spcFirstLastPara="1" rIns="84075" wrap="square" tIns="8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9">
                <a:latin typeface="Roboto SemiBold"/>
                <a:ea typeface="Roboto SemiBold"/>
                <a:cs typeface="Roboto SemiBold"/>
                <a:sym typeface="Roboto SemiBold"/>
              </a:rPr>
              <a:t>AGV Robot 1</a:t>
            </a:r>
            <a:endParaRPr sz="1379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77" name="Google Shape;377;p51"/>
          <p:cNvSpPr/>
          <p:nvPr/>
        </p:nvSpPr>
        <p:spPr>
          <a:xfrm>
            <a:off x="4464700" y="4177814"/>
            <a:ext cx="1243500" cy="382200"/>
          </a:xfrm>
          <a:prstGeom prst="rect">
            <a:avLst/>
          </a:prstGeom>
          <a:solidFill>
            <a:schemeClr val="lt1"/>
          </a:solidFill>
          <a:ln cap="flat" cmpd="sng" w="8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75" lIns="84075" spcFirstLastPara="1" rIns="84075" wrap="square" tIns="8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9">
                <a:latin typeface="Roboto SemiBold"/>
                <a:ea typeface="Roboto SemiBold"/>
                <a:cs typeface="Roboto SemiBold"/>
                <a:sym typeface="Roboto SemiBold"/>
              </a:rPr>
              <a:t>AGV Robot 2</a:t>
            </a:r>
            <a:endParaRPr sz="1379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cxnSp>
        <p:nvCxnSpPr>
          <p:cNvPr id="378" name="Google Shape;378;p51"/>
          <p:cNvCxnSpPr>
            <a:stCxn id="365" idx="2"/>
          </p:cNvCxnSpPr>
          <p:nvPr/>
        </p:nvCxnSpPr>
        <p:spPr>
          <a:xfrm>
            <a:off x="4317000" y="2591569"/>
            <a:ext cx="0" cy="146400"/>
          </a:xfrm>
          <a:prstGeom prst="straightConnector1">
            <a:avLst/>
          </a:prstGeom>
          <a:noFill/>
          <a:ln cap="flat" cmpd="sng" w="87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51"/>
          <p:cNvCxnSpPr/>
          <p:nvPr/>
        </p:nvCxnSpPr>
        <p:spPr>
          <a:xfrm>
            <a:off x="3608839" y="3987993"/>
            <a:ext cx="0" cy="174000"/>
          </a:xfrm>
          <a:prstGeom prst="straightConnector1">
            <a:avLst/>
          </a:prstGeom>
          <a:noFill/>
          <a:ln cap="flat" cmpd="sng" w="87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" name="Google Shape;380;p51"/>
          <p:cNvCxnSpPr/>
          <p:nvPr/>
        </p:nvCxnSpPr>
        <p:spPr>
          <a:xfrm>
            <a:off x="5086372" y="3987993"/>
            <a:ext cx="0" cy="174000"/>
          </a:xfrm>
          <a:prstGeom prst="straightConnector1">
            <a:avLst/>
          </a:prstGeom>
          <a:noFill/>
          <a:ln cap="flat" cmpd="sng" w="87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1" name="Google Shape;381;p51"/>
          <p:cNvSpPr/>
          <p:nvPr/>
        </p:nvSpPr>
        <p:spPr>
          <a:xfrm>
            <a:off x="2820152" y="4065535"/>
            <a:ext cx="2997600" cy="603600"/>
          </a:xfrm>
          <a:prstGeom prst="rect">
            <a:avLst/>
          </a:prstGeom>
          <a:noFill/>
          <a:ln cap="flat" cmpd="sng" w="87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4075" lIns="84075" spcFirstLastPara="1" rIns="84075" wrap="square" tIns="8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7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2" name="Google Shape;382;p51"/>
          <p:cNvCxnSpPr/>
          <p:nvPr/>
        </p:nvCxnSpPr>
        <p:spPr>
          <a:xfrm rot="10800000">
            <a:off x="5708323" y="3525568"/>
            <a:ext cx="275400" cy="3300"/>
          </a:xfrm>
          <a:prstGeom prst="straightConnector1">
            <a:avLst/>
          </a:prstGeom>
          <a:noFill/>
          <a:ln cap="flat" cmpd="sng" w="87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3" name="Google Shape;383;p51"/>
          <p:cNvCxnSpPr/>
          <p:nvPr/>
        </p:nvCxnSpPr>
        <p:spPr>
          <a:xfrm>
            <a:off x="5696744" y="2833242"/>
            <a:ext cx="298500" cy="0"/>
          </a:xfrm>
          <a:prstGeom prst="straightConnector1">
            <a:avLst/>
          </a:prstGeom>
          <a:noFill/>
          <a:ln cap="flat" cmpd="sng" w="87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" name="Google Shape;384;p51"/>
          <p:cNvCxnSpPr/>
          <p:nvPr/>
        </p:nvCxnSpPr>
        <p:spPr>
          <a:xfrm rot="10800000">
            <a:off x="2648585" y="3156864"/>
            <a:ext cx="275400" cy="3300"/>
          </a:xfrm>
          <a:prstGeom prst="straightConnector1">
            <a:avLst/>
          </a:prstGeom>
          <a:noFill/>
          <a:ln cap="flat" cmpd="sng" w="87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51"/>
          <p:cNvCxnSpPr/>
          <p:nvPr/>
        </p:nvCxnSpPr>
        <p:spPr>
          <a:xfrm flipH="1" rot="10800000">
            <a:off x="5708018" y="3522856"/>
            <a:ext cx="302100" cy="6000"/>
          </a:xfrm>
          <a:prstGeom prst="straightConnector1">
            <a:avLst/>
          </a:prstGeom>
          <a:noFill/>
          <a:ln cap="flat" cmpd="sng" w="87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51"/>
          <p:cNvCxnSpPr/>
          <p:nvPr/>
        </p:nvCxnSpPr>
        <p:spPr>
          <a:xfrm>
            <a:off x="2651377" y="3160164"/>
            <a:ext cx="269700" cy="0"/>
          </a:xfrm>
          <a:prstGeom prst="straightConnector1">
            <a:avLst/>
          </a:prstGeom>
          <a:noFill/>
          <a:ln cap="flat" cmpd="sng" w="87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" name="Google Shape;387;p51"/>
          <p:cNvCxnSpPr>
            <a:stCxn id="367" idx="0"/>
            <a:endCxn id="364" idx="1"/>
          </p:cNvCxnSpPr>
          <p:nvPr/>
        </p:nvCxnSpPr>
        <p:spPr>
          <a:xfrm rot="-5400000">
            <a:off x="1587842" y="1259908"/>
            <a:ext cx="1460700" cy="1215300"/>
          </a:xfrm>
          <a:prstGeom prst="bentConnector2">
            <a:avLst/>
          </a:prstGeom>
          <a:noFill/>
          <a:ln cap="flat" cmpd="sng" w="9225">
            <a:solidFill>
              <a:srgbClr val="19191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51"/>
          <p:cNvCxnSpPr/>
          <p:nvPr/>
        </p:nvCxnSpPr>
        <p:spPr>
          <a:xfrm>
            <a:off x="2693056" y="1139555"/>
            <a:ext cx="232800" cy="0"/>
          </a:xfrm>
          <a:prstGeom prst="straightConnector1">
            <a:avLst/>
          </a:prstGeom>
          <a:noFill/>
          <a:ln cap="flat" cmpd="sng" w="87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" name="Google Shape;389;p51"/>
          <p:cNvCxnSpPr/>
          <p:nvPr/>
        </p:nvCxnSpPr>
        <p:spPr>
          <a:xfrm rot="10800000">
            <a:off x="5825478" y="4176424"/>
            <a:ext cx="158100" cy="6300"/>
          </a:xfrm>
          <a:prstGeom prst="straightConnector1">
            <a:avLst/>
          </a:prstGeom>
          <a:noFill/>
          <a:ln cap="flat" cmpd="sng" w="87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0" name="Google Shape;390;p51"/>
          <p:cNvSpPr/>
          <p:nvPr/>
        </p:nvSpPr>
        <p:spPr>
          <a:xfrm>
            <a:off x="6158833" y="986893"/>
            <a:ext cx="148200" cy="148200"/>
          </a:xfrm>
          <a:prstGeom prst="rect">
            <a:avLst/>
          </a:prstGeom>
          <a:solidFill>
            <a:srgbClr val="F4CCCC"/>
          </a:solidFill>
          <a:ln cap="flat" cmpd="sng" w="17250">
            <a:solidFill>
              <a:srgbClr val="F97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75" lIns="82775" spcFirstLastPara="1" rIns="82775" wrap="square" tIns="8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51"/>
          <p:cNvSpPr txBox="1"/>
          <p:nvPr/>
        </p:nvSpPr>
        <p:spPr>
          <a:xfrm>
            <a:off x="6328771" y="891036"/>
            <a:ext cx="23748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82775" lIns="82775" spcFirstLastPara="1" rIns="82775" wrap="square" tIns="82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5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Min Thant Kyaw’s Responsibility</a:t>
            </a:r>
            <a:endParaRPr sz="905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92" name="Google Shape;392;p51"/>
          <p:cNvSpPr/>
          <p:nvPr/>
        </p:nvSpPr>
        <p:spPr>
          <a:xfrm>
            <a:off x="6158833" y="1217440"/>
            <a:ext cx="148200" cy="148200"/>
          </a:xfrm>
          <a:prstGeom prst="rect">
            <a:avLst/>
          </a:prstGeom>
          <a:solidFill>
            <a:srgbClr val="FCE5CD"/>
          </a:solidFill>
          <a:ln cap="flat" cmpd="sng" w="172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75" lIns="82775" spcFirstLastPara="1" rIns="82775" wrap="square" tIns="8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51"/>
          <p:cNvSpPr txBox="1"/>
          <p:nvPr/>
        </p:nvSpPr>
        <p:spPr>
          <a:xfrm>
            <a:off x="6328771" y="1126939"/>
            <a:ext cx="23748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82775" lIns="82775" spcFirstLastPara="1" rIns="82775" wrap="square" tIns="82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5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Hein Htet Zaw</a:t>
            </a:r>
            <a:r>
              <a:rPr lang="en" sz="905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’s Responsibility</a:t>
            </a:r>
            <a:endParaRPr sz="905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94" name="Google Shape;394;p51"/>
          <p:cNvSpPr/>
          <p:nvPr/>
        </p:nvSpPr>
        <p:spPr>
          <a:xfrm>
            <a:off x="6158833" y="1447987"/>
            <a:ext cx="148200" cy="148200"/>
          </a:xfrm>
          <a:prstGeom prst="rect">
            <a:avLst/>
          </a:prstGeom>
          <a:solidFill>
            <a:srgbClr val="D9EAD3"/>
          </a:solidFill>
          <a:ln cap="flat" cmpd="sng" w="172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75" lIns="82775" spcFirstLastPara="1" rIns="82775" wrap="square" tIns="8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51"/>
          <p:cNvSpPr txBox="1"/>
          <p:nvPr/>
        </p:nvSpPr>
        <p:spPr>
          <a:xfrm>
            <a:off x="6328771" y="1362842"/>
            <a:ext cx="23748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82775" lIns="82775" spcFirstLastPara="1" rIns="82775" wrap="square" tIns="82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5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Aung Kaung Set</a:t>
            </a:r>
            <a:r>
              <a:rPr lang="en" sz="905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’s Responsibility</a:t>
            </a:r>
            <a:endParaRPr sz="905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96" name="Google Shape;396;p51"/>
          <p:cNvSpPr/>
          <p:nvPr/>
        </p:nvSpPr>
        <p:spPr>
          <a:xfrm>
            <a:off x="6158833" y="1678535"/>
            <a:ext cx="148200" cy="148200"/>
          </a:xfrm>
          <a:prstGeom prst="rect">
            <a:avLst/>
          </a:prstGeom>
          <a:solidFill>
            <a:srgbClr val="C9DAF8"/>
          </a:solidFill>
          <a:ln cap="flat" cmpd="sng" w="172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75" lIns="82775" spcFirstLastPara="1" rIns="82775" wrap="square" tIns="8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51"/>
          <p:cNvSpPr txBox="1"/>
          <p:nvPr/>
        </p:nvSpPr>
        <p:spPr>
          <a:xfrm>
            <a:off x="6328771" y="1598745"/>
            <a:ext cx="23748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82775" lIns="82775" spcFirstLastPara="1" rIns="82775" wrap="square" tIns="82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5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Si Thu Lin Htet</a:t>
            </a:r>
            <a:r>
              <a:rPr lang="en" sz="905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’s Responsibility</a:t>
            </a:r>
            <a:endParaRPr sz="905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98" name="Google Shape;398;p51"/>
          <p:cNvSpPr txBox="1"/>
          <p:nvPr/>
        </p:nvSpPr>
        <p:spPr>
          <a:xfrm>
            <a:off x="619075" y="4714384"/>
            <a:ext cx="821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Figure 1.1: Overall Block Diagram for Warehouse Management System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cxnSp>
        <p:nvCxnSpPr>
          <p:cNvPr id="399" name="Google Shape;399;p51"/>
          <p:cNvCxnSpPr/>
          <p:nvPr/>
        </p:nvCxnSpPr>
        <p:spPr>
          <a:xfrm>
            <a:off x="4317000" y="1378206"/>
            <a:ext cx="0" cy="146400"/>
          </a:xfrm>
          <a:prstGeom prst="straightConnector1">
            <a:avLst/>
          </a:prstGeom>
          <a:noFill/>
          <a:ln cap="flat" cmpd="sng" w="87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2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52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52"/>
          <p:cNvSpPr txBox="1"/>
          <p:nvPr/>
        </p:nvSpPr>
        <p:spPr>
          <a:xfrm>
            <a:off x="370450" y="1146350"/>
            <a:ext cx="5216400" cy="29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2000"/>
              <a:buFont typeface="Roboto Medium"/>
              <a:buChar char="●"/>
            </a:pPr>
            <a:r>
              <a:rPr lang="en" sz="20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Modern warehouses rely on multiple autonomous robots. </a:t>
            </a:r>
            <a:endParaRPr sz="20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2000"/>
              <a:buFont typeface="Roboto Medium"/>
              <a:buChar char="●"/>
            </a:pPr>
            <a:r>
              <a:rPr lang="en" sz="20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Tasks must be assigned efficiently to each robot. </a:t>
            </a:r>
            <a:endParaRPr sz="20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2000"/>
              <a:buFont typeface="Roboto Medium"/>
              <a:buChar char="●"/>
            </a:pPr>
            <a:r>
              <a:rPr lang="en" sz="20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Centralized MILP finds globally optimal solutions. </a:t>
            </a:r>
            <a:endParaRPr sz="20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2000"/>
              <a:buFont typeface="Roboto Medium"/>
              <a:buChar char="●"/>
            </a:pPr>
            <a:r>
              <a:rPr lang="en" sz="20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However, it becomes computationally expensive in real time.</a:t>
            </a:r>
            <a:endParaRPr sz="20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Robot Forklift efficiently sorting hundreds of parcels per hour(AGV). (Provided by Getty Images)" id="407" name="Google Shape;407;p5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868" l="25617" r="25617" t="0"/>
          <a:stretch/>
        </p:blipFill>
        <p:spPr>
          <a:xfrm>
            <a:off x="5773425" y="1156025"/>
            <a:ext cx="2744400" cy="2916600"/>
          </a:xfrm>
          <a:prstGeom prst="roundRect">
            <a:avLst>
              <a:gd fmla="val 5560" name="adj"/>
            </a:avLst>
          </a:prstGeom>
          <a:noFill/>
        </p:spPr>
      </p:pic>
      <p:sp>
        <p:nvSpPr>
          <p:cNvPr id="408" name="Google Shape;408;p52"/>
          <p:cNvSpPr txBox="1"/>
          <p:nvPr/>
        </p:nvSpPr>
        <p:spPr>
          <a:xfrm>
            <a:off x="4773275" y="4165485"/>
            <a:ext cx="460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Hind"/>
                <a:ea typeface="Hind"/>
                <a:cs typeface="Hind"/>
                <a:sym typeface="Hind"/>
              </a:rPr>
              <a:t>Figure 1.2: Autonomous Warehouse Robot</a:t>
            </a:r>
            <a:endParaRPr sz="16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409" name="Google Shape;409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52"/>
          <p:cNvSpPr txBox="1"/>
          <p:nvPr>
            <p:ph type="title"/>
          </p:nvPr>
        </p:nvSpPr>
        <p:spPr>
          <a:xfrm>
            <a:off x="772376" y="114150"/>
            <a:ext cx="5001000" cy="393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3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53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53"/>
          <p:cNvSpPr txBox="1"/>
          <p:nvPr>
            <p:ph type="title"/>
          </p:nvPr>
        </p:nvSpPr>
        <p:spPr>
          <a:xfrm>
            <a:off x="4057150" y="149384"/>
            <a:ext cx="47289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1.1. Aim &amp; Objectives</a:t>
            </a:r>
            <a:endParaRPr b="1" sz="22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53"/>
          <p:cNvSpPr txBox="1"/>
          <p:nvPr/>
        </p:nvSpPr>
        <p:spPr>
          <a:xfrm>
            <a:off x="370450" y="1146350"/>
            <a:ext cx="84156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 Medium"/>
              <a:buChar char="●"/>
            </a:pPr>
            <a:r>
              <a:rPr lang="en" sz="19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To develop a learning-based multi-robot task allocation system to optimize the warehouse environment.</a:t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19" name="Google Shape;419;p53"/>
          <p:cNvSpPr txBox="1"/>
          <p:nvPr/>
        </p:nvSpPr>
        <p:spPr>
          <a:xfrm>
            <a:off x="370450" y="2715725"/>
            <a:ext cx="8415600" cy="19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 Medium"/>
              <a:buChar char="●"/>
            </a:pPr>
            <a:r>
              <a:rPr lang="en" sz="19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To design a warehouse's layout and create a MILP-generated dataset.</a:t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 Medium"/>
              <a:buChar char="●"/>
            </a:pPr>
            <a:r>
              <a:rPr lang="en" sz="19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To develop an XGBoost model for task allocation prediction.</a:t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 Medium"/>
              <a:buChar char="●"/>
            </a:pPr>
            <a:r>
              <a:rPr lang="en" sz="19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To develop a local server for task management and processing. </a:t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 Medium"/>
              <a:buChar char="●"/>
            </a:pPr>
            <a:r>
              <a:rPr lang="en" sz="19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To implement real-time communication between the server and robots. </a:t>
            </a:r>
            <a:endParaRPr sz="20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420" name="Google Shape;420;p53"/>
          <p:cNvCxnSpPr/>
          <p:nvPr/>
        </p:nvCxnSpPr>
        <p:spPr>
          <a:xfrm>
            <a:off x="907800" y="2364225"/>
            <a:ext cx="753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2" name="Google Shape;422;p53"/>
          <p:cNvSpPr txBox="1"/>
          <p:nvPr>
            <p:ph type="title"/>
          </p:nvPr>
        </p:nvSpPr>
        <p:spPr>
          <a:xfrm>
            <a:off x="77237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1. Introduction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4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54"/>
          <p:cNvSpPr txBox="1"/>
          <p:nvPr>
            <p:ph type="title"/>
          </p:nvPr>
        </p:nvSpPr>
        <p:spPr>
          <a:xfrm>
            <a:off x="648113" y="114155"/>
            <a:ext cx="47289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2. Previous Work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9" name="Google Shape;429;p54"/>
          <p:cNvPicPr preferRelativeResize="0"/>
          <p:nvPr/>
        </p:nvPicPr>
        <p:blipFill rotWithShape="1">
          <a:blip r:embed="rId3">
            <a:alphaModFix/>
          </a:blip>
          <a:srcRect b="0" l="0" r="0" t="4049"/>
          <a:stretch/>
        </p:blipFill>
        <p:spPr>
          <a:xfrm>
            <a:off x="1077100" y="902175"/>
            <a:ext cx="6989798" cy="3972199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54"/>
          <p:cNvSpPr txBox="1"/>
          <p:nvPr/>
        </p:nvSpPr>
        <p:spPr>
          <a:xfrm>
            <a:off x="2270550" y="4712410"/>
            <a:ext cx="460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Hind"/>
                <a:ea typeface="Hind"/>
                <a:cs typeface="Hind"/>
                <a:sym typeface="Hind"/>
              </a:rPr>
              <a:t>Figure 2.1: </a:t>
            </a:r>
            <a:r>
              <a:rPr lang="en" sz="1600">
                <a:latin typeface="Hind"/>
                <a:ea typeface="Hind"/>
                <a:cs typeface="Hind"/>
                <a:sym typeface="Hind"/>
              </a:rPr>
              <a:t>Warehouse Graph with NetworkX</a:t>
            </a:r>
            <a:endParaRPr sz="1600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431" name="Google Shape;431;p54"/>
          <p:cNvSpPr txBox="1"/>
          <p:nvPr>
            <p:ph type="title"/>
          </p:nvPr>
        </p:nvSpPr>
        <p:spPr>
          <a:xfrm>
            <a:off x="4363704" y="150100"/>
            <a:ext cx="499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2.1.</a:t>
            </a: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Warehouse Layout Design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32" name="Google Shape;432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5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55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55"/>
          <p:cNvSpPr txBox="1"/>
          <p:nvPr>
            <p:ph type="title"/>
          </p:nvPr>
        </p:nvSpPr>
        <p:spPr>
          <a:xfrm>
            <a:off x="648113" y="114155"/>
            <a:ext cx="47289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Previous Work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55"/>
          <p:cNvSpPr txBox="1"/>
          <p:nvPr>
            <p:ph type="title"/>
          </p:nvPr>
        </p:nvSpPr>
        <p:spPr>
          <a:xfrm>
            <a:off x="4363704" y="150100"/>
            <a:ext cx="499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2.2. MILP Dataset Generation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41" name="Google Shape;441;p55"/>
          <p:cNvSpPr/>
          <p:nvPr/>
        </p:nvSpPr>
        <p:spPr>
          <a:xfrm>
            <a:off x="771428" y="1088700"/>
            <a:ext cx="2919300" cy="438000"/>
          </a:xfrm>
          <a:prstGeom prst="rect">
            <a:avLst/>
          </a:prstGeom>
          <a:solidFill>
            <a:srgbClr val="F3F3F3"/>
          </a:solidFill>
          <a:ln cap="flat" cmpd="sng" w="17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000" lIns="82000" spcFirstLastPara="1" rIns="82000" wrap="square" tIns="8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9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Warehouse Simulation</a:t>
            </a:r>
            <a:endParaRPr b="1" sz="169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55"/>
          <p:cNvSpPr/>
          <p:nvPr/>
        </p:nvSpPr>
        <p:spPr>
          <a:xfrm>
            <a:off x="771428" y="1793781"/>
            <a:ext cx="2919300" cy="438000"/>
          </a:xfrm>
          <a:prstGeom prst="rect">
            <a:avLst/>
          </a:prstGeom>
          <a:solidFill>
            <a:srgbClr val="F3F3F3"/>
          </a:solidFill>
          <a:ln cap="flat" cmpd="sng" w="17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000" lIns="82000" spcFirstLastPara="1" rIns="82000" wrap="square" tIns="8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9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Task Generation</a:t>
            </a:r>
            <a:endParaRPr b="1" sz="169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55"/>
          <p:cNvSpPr/>
          <p:nvPr/>
        </p:nvSpPr>
        <p:spPr>
          <a:xfrm>
            <a:off x="771428" y="2498863"/>
            <a:ext cx="2919300" cy="438000"/>
          </a:xfrm>
          <a:prstGeom prst="rect">
            <a:avLst/>
          </a:prstGeom>
          <a:solidFill>
            <a:srgbClr val="F3F3F3"/>
          </a:solidFill>
          <a:ln cap="flat" cmpd="sng" w="17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000" lIns="82000" spcFirstLastPara="1" rIns="82000" wrap="square" tIns="8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9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MILP Optimization</a:t>
            </a:r>
            <a:endParaRPr b="1" sz="169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55"/>
          <p:cNvSpPr/>
          <p:nvPr/>
        </p:nvSpPr>
        <p:spPr>
          <a:xfrm>
            <a:off x="771428" y="3203944"/>
            <a:ext cx="2919300" cy="438000"/>
          </a:xfrm>
          <a:prstGeom prst="rect">
            <a:avLst/>
          </a:prstGeom>
          <a:solidFill>
            <a:srgbClr val="F3F3F3"/>
          </a:solidFill>
          <a:ln cap="flat" cmpd="sng" w="17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000" lIns="82000" spcFirstLastPara="1" rIns="82000" wrap="square" tIns="8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9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Optimal Robot Assignment</a:t>
            </a:r>
            <a:endParaRPr b="1" sz="169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55"/>
          <p:cNvSpPr/>
          <p:nvPr/>
        </p:nvSpPr>
        <p:spPr>
          <a:xfrm>
            <a:off x="771428" y="3909025"/>
            <a:ext cx="2919300" cy="438000"/>
          </a:xfrm>
          <a:prstGeom prst="rect">
            <a:avLst/>
          </a:prstGeom>
          <a:solidFill>
            <a:srgbClr val="F3F3F3"/>
          </a:solidFill>
          <a:ln cap="flat" cmpd="sng" w="17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000" lIns="82000" spcFirstLastPara="1" rIns="82000" wrap="square" tIns="82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9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Save Training Dataset</a:t>
            </a:r>
            <a:endParaRPr b="1" sz="169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6" name="Google Shape;446;p55"/>
          <p:cNvCxnSpPr>
            <a:stCxn id="441" idx="2"/>
            <a:endCxn id="442" idx="0"/>
          </p:cNvCxnSpPr>
          <p:nvPr/>
        </p:nvCxnSpPr>
        <p:spPr>
          <a:xfrm>
            <a:off x="2231078" y="1526700"/>
            <a:ext cx="0" cy="26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7" name="Google Shape;447;p55"/>
          <p:cNvCxnSpPr>
            <a:stCxn id="442" idx="2"/>
            <a:endCxn id="443" idx="0"/>
          </p:cNvCxnSpPr>
          <p:nvPr/>
        </p:nvCxnSpPr>
        <p:spPr>
          <a:xfrm>
            <a:off x="2231078" y="2231781"/>
            <a:ext cx="0" cy="26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" name="Google Shape;448;p55"/>
          <p:cNvCxnSpPr>
            <a:stCxn id="443" idx="2"/>
            <a:endCxn id="444" idx="0"/>
          </p:cNvCxnSpPr>
          <p:nvPr/>
        </p:nvCxnSpPr>
        <p:spPr>
          <a:xfrm>
            <a:off x="2231078" y="2936863"/>
            <a:ext cx="0" cy="26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" name="Google Shape;449;p55"/>
          <p:cNvCxnSpPr>
            <a:stCxn id="444" idx="2"/>
            <a:endCxn id="445" idx="0"/>
          </p:cNvCxnSpPr>
          <p:nvPr/>
        </p:nvCxnSpPr>
        <p:spPr>
          <a:xfrm>
            <a:off x="2231078" y="3641944"/>
            <a:ext cx="0" cy="26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0" name="Google Shape;450;p55"/>
          <p:cNvSpPr txBox="1"/>
          <p:nvPr/>
        </p:nvSpPr>
        <p:spPr>
          <a:xfrm>
            <a:off x="4363704" y="4048950"/>
            <a:ext cx="476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MILP = Mixed-Integer Linear Programming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51" name="Google Shape;451;p55"/>
          <p:cNvSpPr txBox="1"/>
          <p:nvPr/>
        </p:nvSpPr>
        <p:spPr>
          <a:xfrm>
            <a:off x="4263425" y="1088700"/>
            <a:ext cx="44574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 Medium"/>
              <a:buChar char="●"/>
            </a:pPr>
            <a:r>
              <a:rPr lang="en" sz="19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Total dataset size: 20,019</a:t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 Medium"/>
              <a:buChar char="●"/>
            </a:pPr>
            <a:r>
              <a:rPr lang="en" sz="19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Number of features: 18</a:t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 Medium"/>
              <a:buChar char="●"/>
            </a:pPr>
            <a:r>
              <a:rPr lang="en" sz="19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Batch size range: 1-7</a:t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 Medium"/>
              <a:buChar char="●"/>
            </a:pPr>
            <a:r>
              <a:rPr lang="en" sz="19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Target: Assigned Robot</a:t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 Medium"/>
              <a:buChar char="●"/>
            </a:pPr>
            <a:r>
              <a:rPr lang="en" sz="19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Output Classes: Robot_1, Robot_2</a:t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52" name="Google Shape;452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3" name="Google Shape;453;p55"/>
          <p:cNvSpPr txBox="1"/>
          <p:nvPr/>
        </p:nvSpPr>
        <p:spPr>
          <a:xfrm>
            <a:off x="-15147" y="4483210"/>
            <a:ext cx="460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91919"/>
                </a:solidFill>
                <a:latin typeface="Hind"/>
                <a:ea typeface="Hind"/>
                <a:cs typeface="Hind"/>
                <a:sym typeface="Hind"/>
              </a:rPr>
              <a:t>Figure 2.2: MILP Dataset Generation Process</a:t>
            </a:r>
            <a:endParaRPr sz="1500">
              <a:solidFill>
                <a:srgbClr val="191919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6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56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56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3. Current Progress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56"/>
          <p:cNvSpPr txBox="1"/>
          <p:nvPr>
            <p:ph type="title"/>
          </p:nvPr>
        </p:nvSpPr>
        <p:spPr>
          <a:xfrm>
            <a:off x="4363704" y="150100"/>
            <a:ext cx="499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</a:t>
            </a: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1. XGBoost Classifier Training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62" name="Google Shape;462;p56"/>
          <p:cNvSpPr/>
          <p:nvPr/>
        </p:nvSpPr>
        <p:spPr>
          <a:xfrm>
            <a:off x="1688625" y="1210075"/>
            <a:ext cx="2378400" cy="801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750" lIns="90750" spcFirstLastPara="1" rIns="90750" wrap="square" tIns="90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86">
                <a:solidFill>
                  <a:srgbClr val="19191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MILP</a:t>
            </a:r>
            <a:r>
              <a:rPr lang="en" sz="1886">
                <a:solidFill>
                  <a:srgbClr val="19191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</a:t>
            </a:r>
            <a:r>
              <a:rPr lang="en" sz="1886">
                <a:solidFill>
                  <a:srgbClr val="19191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Dataset</a:t>
            </a:r>
            <a:endParaRPr sz="1886">
              <a:solidFill>
                <a:srgbClr val="191919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63" name="Google Shape;463;p56"/>
          <p:cNvSpPr/>
          <p:nvPr/>
        </p:nvSpPr>
        <p:spPr>
          <a:xfrm>
            <a:off x="1688624" y="2391975"/>
            <a:ext cx="2378400" cy="801000"/>
          </a:xfrm>
          <a:prstGeom prst="rect">
            <a:avLst/>
          </a:prstGeom>
          <a:solidFill>
            <a:srgbClr val="F97369"/>
          </a:solidFill>
          <a:ln>
            <a:noFill/>
          </a:ln>
        </p:spPr>
        <p:txBody>
          <a:bodyPr anchorCtr="0" anchor="ctr" bIns="90750" lIns="90750" spcFirstLastPara="1" rIns="90750" wrap="square" tIns="90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86">
                <a:solidFill>
                  <a:srgbClr val="FEFEFE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XGBoost</a:t>
            </a:r>
            <a:r>
              <a:rPr lang="en" sz="1886">
                <a:solidFill>
                  <a:srgbClr val="FEFEFE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</a:t>
            </a:r>
            <a:r>
              <a:rPr lang="en" sz="1886">
                <a:solidFill>
                  <a:srgbClr val="FEFEFE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Classifier</a:t>
            </a:r>
            <a:endParaRPr sz="1886">
              <a:solidFill>
                <a:srgbClr val="FEFEFE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64" name="Google Shape;464;p56"/>
          <p:cNvSpPr/>
          <p:nvPr/>
        </p:nvSpPr>
        <p:spPr>
          <a:xfrm>
            <a:off x="1688624" y="3573875"/>
            <a:ext cx="2378400" cy="801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750" lIns="90750" spcFirstLastPara="1" rIns="90750" wrap="square" tIns="90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86">
                <a:solidFill>
                  <a:schemeClr val="hlink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Robot</a:t>
            </a:r>
            <a:r>
              <a:rPr lang="en" sz="1886">
                <a:solidFill>
                  <a:schemeClr val="hlink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</a:t>
            </a:r>
            <a:r>
              <a:rPr lang="en" sz="1886">
                <a:solidFill>
                  <a:schemeClr val="hlink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Assignment</a:t>
            </a:r>
            <a:endParaRPr sz="1886">
              <a:solidFill>
                <a:schemeClr val="hlink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65" name="Google Shape;465;p56"/>
          <p:cNvSpPr/>
          <p:nvPr/>
        </p:nvSpPr>
        <p:spPr>
          <a:xfrm>
            <a:off x="5031449" y="3573875"/>
            <a:ext cx="2378400" cy="801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750" lIns="90750" spcFirstLastPara="1" rIns="90750" wrap="square" tIns="90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86">
                <a:solidFill>
                  <a:schemeClr val="hlink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Model Performance Evaluation</a:t>
            </a:r>
            <a:endParaRPr sz="1886">
              <a:solidFill>
                <a:schemeClr val="hlink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66" name="Google Shape;466;p56"/>
          <p:cNvSpPr/>
          <p:nvPr/>
        </p:nvSpPr>
        <p:spPr>
          <a:xfrm>
            <a:off x="5031449" y="2334900"/>
            <a:ext cx="2378400" cy="801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750" lIns="90750" spcFirstLastPara="1" rIns="90750" wrap="square" tIns="90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86">
                <a:solidFill>
                  <a:schemeClr val="hlink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System</a:t>
            </a:r>
            <a:r>
              <a:rPr lang="en" sz="1886">
                <a:solidFill>
                  <a:schemeClr val="hlink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</a:t>
            </a:r>
            <a:r>
              <a:rPr lang="en" sz="1886">
                <a:solidFill>
                  <a:schemeClr val="hlink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Evaluation</a:t>
            </a:r>
            <a:endParaRPr sz="1886">
              <a:solidFill>
                <a:schemeClr val="hlink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cxnSp>
        <p:nvCxnSpPr>
          <p:cNvPr id="467" name="Google Shape;467;p56"/>
          <p:cNvCxnSpPr>
            <a:stCxn id="462" idx="2"/>
            <a:endCxn id="463" idx="0"/>
          </p:cNvCxnSpPr>
          <p:nvPr/>
        </p:nvCxnSpPr>
        <p:spPr>
          <a:xfrm>
            <a:off x="2877825" y="2011075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8" name="Google Shape;468;p56"/>
          <p:cNvCxnSpPr>
            <a:stCxn id="463" idx="2"/>
            <a:endCxn id="464" idx="0"/>
          </p:cNvCxnSpPr>
          <p:nvPr/>
        </p:nvCxnSpPr>
        <p:spPr>
          <a:xfrm>
            <a:off x="2877824" y="3192975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9" name="Google Shape;469;p56"/>
          <p:cNvCxnSpPr>
            <a:stCxn id="465" idx="0"/>
            <a:endCxn id="466" idx="2"/>
          </p:cNvCxnSpPr>
          <p:nvPr/>
        </p:nvCxnSpPr>
        <p:spPr>
          <a:xfrm rot="10800000">
            <a:off x="6220649" y="3135875"/>
            <a:ext cx="0" cy="43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0" name="Google Shape;470;p56"/>
          <p:cNvSpPr/>
          <p:nvPr/>
        </p:nvSpPr>
        <p:spPr>
          <a:xfrm>
            <a:off x="5031449" y="1210075"/>
            <a:ext cx="2378400" cy="801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750" lIns="90750" spcFirstLastPara="1" rIns="90750" wrap="square" tIns="90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86">
                <a:solidFill>
                  <a:schemeClr val="hlink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Comparative</a:t>
            </a:r>
            <a:r>
              <a:rPr lang="en" sz="1886">
                <a:solidFill>
                  <a:schemeClr val="hlink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Analysis</a:t>
            </a:r>
            <a:endParaRPr sz="1886">
              <a:solidFill>
                <a:schemeClr val="hlink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cxnSp>
        <p:nvCxnSpPr>
          <p:cNvPr id="471" name="Google Shape;471;p56"/>
          <p:cNvCxnSpPr>
            <a:stCxn id="466" idx="0"/>
            <a:endCxn id="470" idx="2"/>
          </p:cNvCxnSpPr>
          <p:nvPr/>
        </p:nvCxnSpPr>
        <p:spPr>
          <a:xfrm rot="10800000">
            <a:off x="6220649" y="2011200"/>
            <a:ext cx="0" cy="32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2" name="Google Shape;472;p56"/>
          <p:cNvCxnSpPr>
            <a:stCxn id="464" idx="3"/>
            <a:endCxn id="465" idx="1"/>
          </p:cNvCxnSpPr>
          <p:nvPr/>
        </p:nvCxnSpPr>
        <p:spPr>
          <a:xfrm>
            <a:off x="4067024" y="3974375"/>
            <a:ext cx="96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" name="Google Shape;473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4" name="Google Shape;474;p56"/>
          <p:cNvSpPr txBox="1"/>
          <p:nvPr/>
        </p:nvSpPr>
        <p:spPr>
          <a:xfrm>
            <a:off x="2270550" y="4483210"/>
            <a:ext cx="460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Hind"/>
                <a:ea typeface="Hind"/>
                <a:cs typeface="Hind"/>
                <a:sym typeface="Hind"/>
              </a:rPr>
              <a:t>Figure 3.1: Workflow of </a:t>
            </a:r>
            <a:r>
              <a:rPr lang="en" sz="1500">
                <a:latin typeface="Hind"/>
                <a:ea typeface="Hind"/>
                <a:cs typeface="Hind"/>
                <a:sym typeface="Hind"/>
              </a:rPr>
              <a:t>XGBoost</a:t>
            </a:r>
            <a:r>
              <a:rPr lang="en" sz="1500">
                <a:latin typeface="Hind"/>
                <a:ea typeface="Hind"/>
                <a:cs typeface="Hind"/>
                <a:sym typeface="Hind"/>
              </a:rPr>
              <a:t> Classifier</a:t>
            </a:r>
            <a:endParaRPr sz="1500"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7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57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57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3. Current Progress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57"/>
          <p:cNvSpPr txBox="1"/>
          <p:nvPr>
            <p:ph type="title"/>
          </p:nvPr>
        </p:nvSpPr>
        <p:spPr>
          <a:xfrm>
            <a:off x="4619275" y="150100"/>
            <a:ext cx="38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3.1.1 </a:t>
            </a: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Features Comparison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graphicFrame>
        <p:nvGraphicFramePr>
          <p:cNvPr id="483" name="Google Shape;483;p57"/>
          <p:cNvGraphicFramePr/>
          <p:nvPr/>
        </p:nvGraphicFramePr>
        <p:xfrm>
          <a:off x="780750" y="90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{F5537A76-95F8-421B-BB93-B3BF78DB5E3E}</a:tableStyleId>
              </a:tblPr>
              <a:tblGrid>
                <a:gridCol w="523175"/>
                <a:gridCol w="3458725"/>
                <a:gridCol w="1516200"/>
                <a:gridCol w="1850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EFEFE"/>
                          </a:solidFill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No.</a:t>
                      </a:r>
                      <a:endParaRPr sz="1500">
                        <a:solidFill>
                          <a:srgbClr val="FEFEFE"/>
                        </a:solidFill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>
                    <a:solidFill>
                      <a:srgbClr val="4D6D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EFEFE"/>
                          </a:solidFill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Feature Category</a:t>
                      </a:r>
                      <a:endParaRPr sz="1500">
                        <a:solidFill>
                          <a:srgbClr val="FEFEFE"/>
                        </a:solidFill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>
                    <a:solidFill>
                      <a:srgbClr val="4D6D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EFEFE"/>
                          </a:solidFill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This Research</a:t>
                      </a:r>
                      <a:endParaRPr sz="1500">
                        <a:solidFill>
                          <a:srgbClr val="FEFEF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D6D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EFEFE"/>
                          </a:solidFill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Reference Papers</a:t>
                      </a:r>
                      <a:endParaRPr sz="1500">
                        <a:solidFill>
                          <a:srgbClr val="FEFEFE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D6D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1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Pickup and Dropoff Locations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✓</a:t>
                      </a:r>
                      <a:endParaRPr sz="15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✓</a:t>
                      </a:r>
                      <a:endParaRPr sz="15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2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Physical Distance Between Nodes</a:t>
                      </a:r>
                      <a:endParaRPr sz="1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✓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✓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3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Robot Coordinates</a:t>
                      </a:r>
                      <a:endParaRPr sz="1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✓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✓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4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Robot Charging Percentage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✗</a:t>
                      </a:r>
                      <a:endParaRPr sz="15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✓</a:t>
                      </a:r>
                      <a:endParaRPr sz="15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5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Congestion Tracking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✗</a:t>
                      </a:r>
                      <a:endParaRPr sz="15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✓</a:t>
                      </a:r>
                      <a:endParaRPr sz="15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6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Temporal Constraints</a:t>
                      </a:r>
                      <a:endParaRPr sz="1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✓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✓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7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Future Available Time</a:t>
                      </a:r>
                      <a:endParaRPr sz="1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✓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✓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8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Relative Features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✓</a:t>
                      </a:r>
                      <a:endParaRPr sz="15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✗</a:t>
                      </a:r>
                      <a:endParaRPr sz="15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484" name="Google Shape;484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57"/>
          <p:cNvSpPr txBox="1"/>
          <p:nvPr/>
        </p:nvSpPr>
        <p:spPr>
          <a:xfrm>
            <a:off x="2153425" y="4609760"/>
            <a:ext cx="460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Hind"/>
                <a:ea typeface="Hind"/>
                <a:cs typeface="Hind"/>
                <a:sym typeface="Hind"/>
              </a:rPr>
              <a:t>Table </a:t>
            </a:r>
            <a:r>
              <a:rPr lang="en" sz="1500">
                <a:latin typeface="Hind"/>
                <a:ea typeface="Hind"/>
                <a:cs typeface="Hind"/>
                <a:sym typeface="Hind"/>
              </a:rPr>
              <a:t>3.1: Comparison of Features</a:t>
            </a:r>
            <a:endParaRPr sz="1500"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8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p58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58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3. Current Progress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58"/>
          <p:cNvSpPr txBox="1"/>
          <p:nvPr>
            <p:ph type="title"/>
          </p:nvPr>
        </p:nvSpPr>
        <p:spPr>
          <a:xfrm>
            <a:off x="4363700" y="150100"/>
            <a:ext cx="45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3.1.2 Classifier Configuration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494" name="Google Shape;494;p58" title="task_distribution_classifi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1127" y="923875"/>
            <a:ext cx="3205497" cy="3624899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58"/>
          <p:cNvSpPr txBox="1"/>
          <p:nvPr/>
        </p:nvSpPr>
        <p:spPr>
          <a:xfrm>
            <a:off x="727350" y="999338"/>
            <a:ext cx="223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Batch Size: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6" name="Google Shape;496;p58"/>
          <p:cNvCxnSpPr/>
          <p:nvPr/>
        </p:nvCxnSpPr>
        <p:spPr>
          <a:xfrm>
            <a:off x="825025" y="1543363"/>
            <a:ext cx="4162500" cy="0"/>
          </a:xfrm>
          <a:prstGeom prst="straightConnector1">
            <a:avLst/>
          </a:prstGeom>
          <a:noFill/>
          <a:ln cap="flat" cmpd="sng" w="114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58"/>
          <p:cNvSpPr txBox="1"/>
          <p:nvPr/>
        </p:nvSpPr>
        <p:spPr>
          <a:xfrm>
            <a:off x="3079550" y="999338"/>
            <a:ext cx="111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1-7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58"/>
          <p:cNvSpPr txBox="1"/>
          <p:nvPr/>
        </p:nvSpPr>
        <p:spPr>
          <a:xfrm>
            <a:off x="727350" y="2282621"/>
            <a:ext cx="196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Objective: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9" name="Google Shape;499;p58"/>
          <p:cNvCxnSpPr/>
          <p:nvPr/>
        </p:nvCxnSpPr>
        <p:spPr>
          <a:xfrm>
            <a:off x="825025" y="2826653"/>
            <a:ext cx="4162500" cy="0"/>
          </a:xfrm>
          <a:prstGeom prst="straightConnector1">
            <a:avLst/>
          </a:prstGeom>
          <a:noFill/>
          <a:ln cap="flat" cmpd="sng" w="114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58"/>
          <p:cNvSpPr txBox="1"/>
          <p:nvPr/>
        </p:nvSpPr>
        <p:spPr>
          <a:xfrm>
            <a:off x="3079550" y="2287338"/>
            <a:ext cx="21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Binary: Logistic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58"/>
          <p:cNvSpPr txBox="1"/>
          <p:nvPr/>
        </p:nvSpPr>
        <p:spPr>
          <a:xfrm>
            <a:off x="727350" y="2919538"/>
            <a:ext cx="246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Evaluation Metric: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2" name="Google Shape;502;p58"/>
          <p:cNvCxnSpPr/>
          <p:nvPr/>
        </p:nvCxnSpPr>
        <p:spPr>
          <a:xfrm>
            <a:off x="825025" y="3463551"/>
            <a:ext cx="4188600" cy="0"/>
          </a:xfrm>
          <a:prstGeom prst="straightConnector1">
            <a:avLst/>
          </a:prstGeom>
          <a:noFill/>
          <a:ln cap="flat" cmpd="sng" w="114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3" name="Google Shape;503;p58"/>
          <p:cNvSpPr txBox="1"/>
          <p:nvPr/>
        </p:nvSpPr>
        <p:spPr>
          <a:xfrm>
            <a:off x="3145450" y="2928988"/>
            <a:ext cx="119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AUC-PR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58"/>
          <p:cNvSpPr txBox="1"/>
          <p:nvPr/>
        </p:nvSpPr>
        <p:spPr>
          <a:xfrm>
            <a:off x="727350" y="1640975"/>
            <a:ext cx="282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Train/ Test Split: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5" name="Google Shape;505;p58"/>
          <p:cNvCxnSpPr/>
          <p:nvPr/>
        </p:nvCxnSpPr>
        <p:spPr>
          <a:xfrm>
            <a:off x="825025" y="2185008"/>
            <a:ext cx="4162500" cy="0"/>
          </a:xfrm>
          <a:prstGeom prst="straightConnector1">
            <a:avLst/>
          </a:prstGeom>
          <a:noFill/>
          <a:ln cap="flat" cmpd="sng" w="114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" name="Google Shape;506;p58"/>
          <p:cNvSpPr txBox="1"/>
          <p:nvPr/>
        </p:nvSpPr>
        <p:spPr>
          <a:xfrm>
            <a:off x="3079550" y="1643350"/>
            <a:ext cx="140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75% / 25%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58"/>
          <p:cNvSpPr txBox="1"/>
          <p:nvPr/>
        </p:nvSpPr>
        <p:spPr>
          <a:xfrm>
            <a:off x="727350" y="3497180"/>
            <a:ext cx="196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Hyperparameter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Optimization: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8" name="Google Shape;508;p58"/>
          <p:cNvCxnSpPr/>
          <p:nvPr/>
        </p:nvCxnSpPr>
        <p:spPr>
          <a:xfrm>
            <a:off x="825025" y="4346001"/>
            <a:ext cx="4188600" cy="0"/>
          </a:xfrm>
          <a:prstGeom prst="straightConnector1">
            <a:avLst/>
          </a:prstGeom>
          <a:noFill/>
          <a:ln cap="flat" cmpd="sng" w="114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9" name="Google Shape;509;p58"/>
          <p:cNvSpPr txBox="1"/>
          <p:nvPr/>
        </p:nvSpPr>
        <p:spPr>
          <a:xfrm>
            <a:off x="3145450" y="3506650"/>
            <a:ext cx="172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Hyperopt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(100 Trials)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58"/>
          <p:cNvSpPr txBox="1"/>
          <p:nvPr/>
        </p:nvSpPr>
        <p:spPr>
          <a:xfrm>
            <a:off x="748829" y="4458125"/>
            <a:ext cx="476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AUC-PR = Area Under Curve - Precision Recall</a:t>
            </a:r>
            <a:endParaRPr sz="15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1" name="Google Shape;511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2" name="Google Shape;512;p58"/>
          <p:cNvSpPr txBox="1"/>
          <p:nvPr/>
        </p:nvSpPr>
        <p:spPr>
          <a:xfrm>
            <a:off x="4727200" y="4490510"/>
            <a:ext cx="460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Hind"/>
                <a:ea typeface="Hind"/>
                <a:cs typeface="Hind"/>
                <a:sym typeface="Hind"/>
              </a:rPr>
              <a:t>Figure 3.2: Batch Sizes Distribution</a:t>
            </a:r>
            <a:endParaRPr sz="1500"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9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59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" name="Google Shape;519;p59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3. Current Progress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" name="Google Shape;520;p59"/>
          <p:cNvSpPr txBox="1"/>
          <p:nvPr>
            <p:ph type="title"/>
          </p:nvPr>
        </p:nvSpPr>
        <p:spPr>
          <a:xfrm>
            <a:off x="4332525" y="150100"/>
            <a:ext cx="526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3.1.3 </a:t>
            </a: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Classifier Performance (B1-7)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521" name="Google Shape;521;p59" title="Confusion Matrix for Classifier All Batc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9242" y="1018725"/>
            <a:ext cx="3483618" cy="339352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59"/>
          <p:cNvSpPr/>
          <p:nvPr/>
        </p:nvSpPr>
        <p:spPr>
          <a:xfrm>
            <a:off x="717425" y="1253400"/>
            <a:ext cx="1627500" cy="1325400"/>
          </a:xfrm>
          <a:prstGeom prst="roundRect">
            <a:avLst>
              <a:gd fmla="val 16667" name="adj"/>
            </a:avLst>
          </a:prstGeom>
          <a:solidFill>
            <a:srgbClr val="FEFEFE"/>
          </a:solidFill>
          <a:ln>
            <a:noFill/>
          </a:ln>
          <a:effectLst>
            <a:outerShdw blurRad="185738" rotWithShape="0" algn="bl" dir="3780000" dist="104775">
              <a:srgbClr val="000000">
                <a:alpha val="11000"/>
              </a:srgbClr>
            </a:outerShdw>
          </a:effectLst>
        </p:spPr>
        <p:txBody>
          <a:bodyPr anchorCtr="0" anchor="ctr" bIns="97675" lIns="97675" spcFirstLastPara="1" rIns="97675" wrap="square" tIns="9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59"/>
          <p:cNvSpPr/>
          <p:nvPr/>
        </p:nvSpPr>
        <p:spPr>
          <a:xfrm>
            <a:off x="717425" y="2861055"/>
            <a:ext cx="1627500" cy="1325400"/>
          </a:xfrm>
          <a:prstGeom prst="roundRect">
            <a:avLst>
              <a:gd fmla="val 16667" name="adj"/>
            </a:avLst>
          </a:prstGeom>
          <a:solidFill>
            <a:srgbClr val="FEFEFE"/>
          </a:solidFill>
          <a:ln>
            <a:noFill/>
          </a:ln>
          <a:effectLst>
            <a:outerShdw blurRad="185738" rotWithShape="0" algn="bl" dir="3780000" dist="104775">
              <a:srgbClr val="000000">
                <a:alpha val="11000"/>
              </a:srgbClr>
            </a:outerShdw>
          </a:effectLst>
        </p:spPr>
        <p:txBody>
          <a:bodyPr anchorCtr="0" anchor="ctr" bIns="97675" lIns="97675" spcFirstLastPara="1" rIns="97675" wrap="square" tIns="9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59"/>
          <p:cNvSpPr/>
          <p:nvPr/>
        </p:nvSpPr>
        <p:spPr>
          <a:xfrm>
            <a:off x="2619065" y="1253400"/>
            <a:ext cx="1627500" cy="1325400"/>
          </a:xfrm>
          <a:prstGeom prst="roundRect">
            <a:avLst>
              <a:gd fmla="val 16667" name="adj"/>
            </a:avLst>
          </a:prstGeom>
          <a:solidFill>
            <a:srgbClr val="FEFEFE"/>
          </a:solidFill>
          <a:ln>
            <a:noFill/>
          </a:ln>
          <a:effectLst>
            <a:outerShdw blurRad="185738" rotWithShape="0" algn="bl" dir="3780000" dist="104775">
              <a:srgbClr val="000000">
                <a:alpha val="11000"/>
              </a:srgbClr>
            </a:outerShdw>
          </a:effectLst>
        </p:spPr>
        <p:txBody>
          <a:bodyPr anchorCtr="0" anchor="ctr" bIns="97675" lIns="97675" spcFirstLastPara="1" rIns="97675" wrap="square" tIns="9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" name="Google Shape;525;p59"/>
          <p:cNvSpPr/>
          <p:nvPr/>
        </p:nvSpPr>
        <p:spPr>
          <a:xfrm>
            <a:off x="2619065" y="2861055"/>
            <a:ext cx="1627500" cy="1325400"/>
          </a:xfrm>
          <a:prstGeom prst="roundRect">
            <a:avLst>
              <a:gd fmla="val 16667" name="adj"/>
            </a:avLst>
          </a:prstGeom>
          <a:solidFill>
            <a:srgbClr val="FEFEFE"/>
          </a:solidFill>
          <a:ln>
            <a:noFill/>
          </a:ln>
          <a:effectLst>
            <a:outerShdw blurRad="185738" rotWithShape="0" algn="bl" dir="3780000" dist="104775">
              <a:srgbClr val="000000">
                <a:alpha val="11000"/>
              </a:srgbClr>
            </a:outerShdw>
          </a:effectLst>
        </p:spPr>
        <p:txBody>
          <a:bodyPr anchorCtr="0" anchor="ctr" bIns="97675" lIns="97675" spcFirstLastPara="1" rIns="97675" wrap="square" tIns="9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59"/>
          <p:cNvSpPr txBox="1"/>
          <p:nvPr/>
        </p:nvSpPr>
        <p:spPr>
          <a:xfrm>
            <a:off x="944899" y="1439952"/>
            <a:ext cx="12843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9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Precision</a:t>
            </a:r>
            <a:endParaRPr sz="1869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27" name="Google Shape;527;p59"/>
          <p:cNvSpPr txBox="1"/>
          <p:nvPr/>
        </p:nvSpPr>
        <p:spPr>
          <a:xfrm>
            <a:off x="2845886" y="1439952"/>
            <a:ext cx="12843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9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Recall</a:t>
            </a:r>
            <a:endParaRPr sz="1869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28" name="Google Shape;528;p59"/>
          <p:cNvSpPr txBox="1"/>
          <p:nvPr/>
        </p:nvSpPr>
        <p:spPr>
          <a:xfrm>
            <a:off x="944899" y="1731659"/>
            <a:ext cx="1399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7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0.</a:t>
            </a:r>
            <a:r>
              <a:rPr b="1" lang="en" sz="257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6592</a:t>
            </a:r>
            <a:endParaRPr b="1" sz="257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59"/>
          <p:cNvSpPr txBox="1"/>
          <p:nvPr/>
        </p:nvSpPr>
        <p:spPr>
          <a:xfrm>
            <a:off x="2862794" y="1731659"/>
            <a:ext cx="1399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7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0.</a:t>
            </a:r>
            <a:r>
              <a:rPr b="1" lang="en" sz="257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7048</a:t>
            </a:r>
            <a:endParaRPr b="1" sz="257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59"/>
          <p:cNvSpPr txBox="1"/>
          <p:nvPr/>
        </p:nvSpPr>
        <p:spPr>
          <a:xfrm>
            <a:off x="944899" y="3023341"/>
            <a:ext cx="12843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9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F1 Score</a:t>
            </a:r>
            <a:endParaRPr sz="1869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31" name="Google Shape;531;p59"/>
          <p:cNvSpPr txBox="1"/>
          <p:nvPr/>
        </p:nvSpPr>
        <p:spPr>
          <a:xfrm>
            <a:off x="2845886" y="3023341"/>
            <a:ext cx="12843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9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Accuracy</a:t>
            </a:r>
            <a:endParaRPr sz="1869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32" name="Google Shape;532;p59"/>
          <p:cNvSpPr txBox="1"/>
          <p:nvPr/>
        </p:nvSpPr>
        <p:spPr>
          <a:xfrm>
            <a:off x="944899" y="3315062"/>
            <a:ext cx="1399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7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0.</a:t>
            </a:r>
            <a:r>
              <a:rPr b="1" lang="en" sz="257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6812</a:t>
            </a:r>
            <a:endParaRPr b="1" sz="257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59"/>
          <p:cNvSpPr txBox="1"/>
          <p:nvPr/>
        </p:nvSpPr>
        <p:spPr>
          <a:xfrm>
            <a:off x="2862794" y="3315062"/>
            <a:ext cx="1399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7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0.</a:t>
            </a:r>
            <a:r>
              <a:rPr b="1" lang="en" sz="257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6701</a:t>
            </a:r>
            <a:endParaRPr b="1" sz="257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5" name="Google Shape;535;p59"/>
          <p:cNvSpPr txBox="1"/>
          <p:nvPr/>
        </p:nvSpPr>
        <p:spPr>
          <a:xfrm>
            <a:off x="4540975" y="4412260"/>
            <a:ext cx="460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Hind"/>
                <a:ea typeface="Hind"/>
                <a:cs typeface="Hind"/>
                <a:sym typeface="Hind"/>
              </a:rPr>
              <a:t>Figure 3.3: Confusion Matrix for XGBoost Classifier</a:t>
            </a:r>
            <a:endParaRPr sz="1500"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0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p60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3. Current Progress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60"/>
          <p:cNvSpPr txBox="1"/>
          <p:nvPr>
            <p:ph type="title"/>
          </p:nvPr>
        </p:nvSpPr>
        <p:spPr>
          <a:xfrm>
            <a:off x="4363704" y="150100"/>
            <a:ext cx="499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3.1.4 Batch Size Investigation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543" name="Google Shape;543;p60" title="Unknown-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6484" y="877200"/>
            <a:ext cx="6151033" cy="38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5" name="Google Shape;545;p60"/>
          <p:cNvSpPr txBox="1"/>
          <p:nvPr/>
        </p:nvSpPr>
        <p:spPr>
          <a:xfrm>
            <a:off x="631500" y="4648825"/>
            <a:ext cx="788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Hind"/>
                <a:ea typeface="Hind"/>
                <a:cs typeface="Hind"/>
                <a:sym typeface="Hind"/>
              </a:rPr>
              <a:t>Figure 3.4:</a:t>
            </a:r>
            <a:r>
              <a:rPr lang="en" sz="1500">
                <a:latin typeface="Hind"/>
                <a:ea typeface="Hind"/>
                <a:cs typeface="Hind"/>
                <a:sym typeface="Hind"/>
              </a:rPr>
              <a:t>Investigation of XGBoost classification accuracy under different batch sizes. </a:t>
            </a:r>
            <a:endParaRPr sz="1500"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1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61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61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3. Current Progress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61"/>
          <p:cNvSpPr txBox="1"/>
          <p:nvPr>
            <p:ph type="title"/>
          </p:nvPr>
        </p:nvSpPr>
        <p:spPr>
          <a:xfrm>
            <a:off x="4363704" y="150100"/>
            <a:ext cx="499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3.2 </a:t>
            </a: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Single-Task Dataset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54" name="Google Shape;554;p61"/>
          <p:cNvSpPr txBox="1"/>
          <p:nvPr/>
        </p:nvSpPr>
        <p:spPr>
          <a:xfrm>
            <a:off x="727350" y="999338"/>
            <a:ext cx="223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Batch Size: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5" name="Google Shape;555;p61"/>
          <p:cNvCxnSpPr/>
          <p:nvPr/>
        </p:nvCxnSpPr>
        <p:spPr>
          <a:xfrm>
            <a:off x="825025" y="1543363"/>
            <a:ext cx="4162500" cy="0"/>
          </a:xfrm>
          <a:prstGeom prst="straightConnector1">
            <a:avLst/>
          </a:prstGeom>
          <a:noFill/>
          <a:ln cap="flat" cmpd="sng" w="114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6" name="Google Shape;556;p61"/>
          <p:cNvSpPr txBox="1"/>
          <p:nvPr/>
        </p:nvSpPr>
        <p:spPr>
          <a:xfrm>
            <a:off x="3079550" y="999338"/>
            <a:ext cx="111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61"/>
          <p:cNvSpPr txBox="1"/>
          <p:nvPr/>
        </p:nvSpPr>
        <p:spPr>
          <a:xfrm>
            <a:off x="727350" y="2282621"/>
            <a:ext cx="196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Objective: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8" name="Google Shape;558;p61"/>
          <p:cNvCxnSpPr/>
          <p:nvPr/>
        </p:nvCxnSpPr>
        <p:spPr>
          <a:xfrm>
            <a:off x="825025" y="2826653"/>
            <a:ext cx="4162500" cy="0"/>
          </a:xfrm>
          <a:prstGeom prst="straightConnector1">
            <a:avLst/>
          </a:prstGeom>
          <a:noFill/>
          <a:ln cap="flat" cmpd="sng" w="114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9" name="Google Shape;559;p61"/>
          <p:cNvSpPr txBox="1"/>
          <p:nvPr/>
        </p:nvSpPr>
        <p:spPr>
          <a:xfrm>
            <a:off x="3079550" y="2287338"/>
            <a:ext cx="21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Binary: Logistic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61"/>
          <p:cNvSpPr txBox="1"/>
          <p:nvPr/>
        </p:nvSpPr>
        <p:spPr>
          <a:xfrm>
            <a:off x="727350" y="2919538"/>
            <a:ext cx="246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Evaluation Metric: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1" name="Google Shape;561;p61"/>
          <p:cNvCxnSpPr/>
          <p:nvPr/>
        </p:nvCxnSpPr>
        <p:spPr>
          <a:xfrm>
            <a:off x="825025" y="3463551"/>
            <a:ext cx="4188600" cy="0"/>
          </a:xfrm>
          <a:prstGeom prst="straightConnector1">
            <a:avLst/>
          </a:prstGeom>
          <a:noFill/>
          <a:ln cap="flat" cmpd="sng" w="114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2" name="Google Shape;562;p61"/>
          <p:cNvSpPr txBox="1"/>
          <p:nvPr/>
        </p:nvSpPr>
        <p:spPr>
          <a:xfrm>
            <a:off x="3145450" y="2928988"/>
            <a:ext cx="119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AUC-PR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61"/>
          <p:cNvSpPr txBox="1"/>
          <p:nvPr/>
        </p:nvSpPr>
        <p:spPr>
          <a:xfrm>
            <a:off x="727350" y="1640975"/>
            <a:ext cx="282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Train/ Test Split: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4" name="Google Shape;564;p61"/>
          <p:cNvCxnSpPr/>
          <p:nvPr/>
        </p:nvCxnSpPr>
        <p:spPr>
          <a:xfrm>
            <a:off x="825025" y="2185008"/>
            <a:ext cx="4162500" cy="0"/>
          </a:xfrm>
          <a:prstGeom prst="straightConnector1">
            <a:avLst/>
          </a:prstGeom>
          <a:noFill/>
          <a:ln cap="flat" cmpd="sng" w="114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" name="Google Shape;565;p61"/>
          <p:cNvSpPr txBox="1"/>
          <p:nvPr/>
        </p:nvSpPr>
        <p:spPr>
          <a:xfrm>
            <a:off x="3079550" y="1643350"/>
            <a:ext cx="140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75% /</a:t>
            </a: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25</a:t>
            </a: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%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61"/>
          <p:cNvSpPr txBox="1"/>
          <p:nvPr/>
        </p:nvSpPr>
        <p:spPr>
          <a:xfrm>
            <a:off x="727350" y="3497180"/>
            <a:ext cx="196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Hyperparameter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Optimization: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" name="Google Shape;567;p61"/>
          <p:cNvCxnSpPr/>
          <p:nvPr/>
        </p:nvCxnSpPr>
        <p:spPr>
          <a:xfrm>
            <a:off x="825025" y="4346001"/>
            <a:ext cx="4188600" cy="0"/>
          </a:xfrm>
          <a:prstGeom prst="straightConnector1">
            <a:avLst/>
          </a:prstGeom>
          <a:noFill/>
          <a:ln cap="flat" cmpd="sng" w="114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8" name="Google Shape;568;p61"/>
          <p:cNvSpPr txBox="1"/>
          <p:nvPr/>
        </p:nvSpPr>
        <p:spPr>
          <a:xfrm>
            <a:off x="3145450" y="3506650"/>
            <a:ext cx="172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Hyperopt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(100 Trials)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61"/>
          <p:cNvSpPr txBox="1"/>
          <p:nvPr/>
        </p:nvSpPr>
        <p:spPr>
          <a:xfrm>
            <a:off x="748829" y="4458125"/>
            <a:ext cx="476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AUC-PR = Area Under Curve - Precision Recall</a:t>
            </a:r>
            <a:endParaRPr sz="15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570" name="Google Shape;570;p61" title="single_task_dataset_distribu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6664" y="1109237"/>
            <a:ext cx="2567724" cy="3434824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2" name="Google Shape;572;p61"/>
          <p:cNvSpPr txBox="1"/>
          <p:nvPr/>
        </p:nvSpPr>
        <p:spPr>
          <a:xfrm>
            <a:off x="4727200" y="4490510"/>
            <a:ext cx="460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Hind"/>
                <a:ea typeface="Hind"/>
                <a:cs typeface="Hind"/>
                <a:sym typeface="Hind"/>
              </a:rPr>
              <a:t>Figure 3.5: Single-Task Dataset Distribution</a:t>
            </a:r>
            <a:endParaRPr sz="1500"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2"/>
          <p:cNvSpPr/>
          <p:nvPr/>
        </p:nvSpPr>
        <p:spPr>
          <a:xfrm>
            <a:off x="717425" y="1253400"/>
            <a:ext cx="1627500" cy="1325400"/>
          </a:xfrm>
          <a:prstGeom prst="roundRect">
            <a:avLst>
              <a:gd fmla="val 16667" name="adj"/>
            </a:avLst>
          </a:prstGeom>
          <a:solidFill>
            <a:srgbClr val="FEFEFE"/>
          </a:solidFill>
          <a:ln>
            <a:noFill/>
          </a:ln>
          <a:effectLst>
            <a:outerShdw blurRad="185738" rotWithShape="0" algn="bl" dir="3780000" dist="104775">
              <a:srgbClr val="000000">
                <a:alpha val="11000"/>
              </a:srgbClr>
            </a:outerShdw>
          </a:effectLst>
        </p:spPr>
        <p:txBody>
          <a:bodyPr anchorCtr="0" anchor="ctr" bIns="97675" lIns="97675" spcFirstLastPara="1" rIns="97675" wrap="square" tIns="9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" name="Google Shape;578;p62"/>
          <p:cNvSpPr/>
          <p:nvPr/>
        </p:nvSpPr>
        <p:spPr>
          <a:xfrm>
            <a:off x="717425" y="2861055"/>
            <a:ext cx="1627500" cy="1325400"/>
          </a:xfrm>
          <a:prstGeom prst="roundRect">
            <a:avLst>
              <a:gd fmla="val 16667" name="adj"/>
            </a:avLst>
          </a:prstGeom>
          <a:solidFill>
            <a:srgbClr val="FEFEFE"/>
          </a:solidFill>
          <a:ln>
            <a:noFill/>
          </a:ln>
          <a:effectLst>
            <a:outerShdw blurRad="185738" rotWithShape="0" algn="bl" dir="3780000" dist="104775">
              <a:srgbClr val="000000">
                <a:alpha val="11000"/>
              </a:srgbClr>
            </a:outerShdw>
          </a:effectLst>
        </p:spPr>
        <p:txBody>
          <a:bodyPr anchorCtr="0" anchor="ctr" bIns="97675" lIns="97675" spcFirstLastPara="1" rIns="97675" wrap="square" tIns="9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" name="Google Shape;579;p62"/>
          <p:cNvSpPr/>
          <p:nvPr/>
        </p:nvSpPr>
        <p:spPr>
          <a:xfrm>
            <a:off x="2619065" y="1253400"/>
            <a:ext cx="1627500" cy="1325400"/>
          </a:xfrm>
          <a:prstGeom prst="roundRect">
            <a:avLst>
              <a:gd fmla="val 16667" name="adj"/>
            </a:avLst>
          </a:prstGeom>
          <a:solidFill>
            <a:srgbClr val="FEFEFE"/>
          </a:solidFill>
          <a:ln>
            <a:noFill/>
          </a:ln>
          <a:effectLst>
            <a:outerShdw blurRad="185738" rotWithShape="0" algn="bl" dir="3780000" dist="104775">
              <a:srgbClr val="000000">
                <a:alpha val="11000"/>
              </a:srgbClr>
            </a:outerShdw>
          </a:effectLst>
        </p:spPr>
        <p:txBody>
          <a:bodyPr anchorCtr="0" anchor="ctr" bIns="97675" lIns="97675" spcFirstLastPara="1" rIns="97675" wrap="square" tIns="9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0" name="Google Shape;580;p62"/>
          <p:cNvSpPr/>
          <p:nvPr/>
        </p:nvSpPr>
        <p:spPr>
          <a:xfrm>
            <a:off x="2619065" y="2861055"/>
            <a:ext cx="1627500" cy="1325400"/>
          </a:xfrm>
          <a:prstGeom prst="roundRect">
            <a:avLst>
              <a:gd fmla="val 16667" name="adj"/>
            </a:avLst>
          </a:prstGeom>
          <a:solidFill>
            <a:srgbClr val="FEFEFE"/>
          </a:solidFill>
          <a:ln>
            <a:noFill/>
          </a:ln>
          <a:effectLst>
            <a:outerShdw blurRad="185738" rotWithShape="0" algn="bl" dir="3780000" dist="104775">
              <a:srgbClr val="000000">
                <a:alpha val="11000"/>
              </a:srgbClr>
            </a:outerShdw>
          </a:effectLst>
        </p:spPr>
        <p:txBody>
          <a:bodyPr anchorCtr="0" anchor="ctr" bIns="97675" lIns="97675" spcFirstLastPara="1" rIns="97675" wrap="square" tIns="9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62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" name="Google Shape;582;p62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p62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3. Current Progress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" name="Google Shape;584;p62"/>
          <p:cNvSpPr txBox="1"/>
          <p:nvPr>
            <p:ph type="title"/>
          </p:nvPr>
        </p:nvSpPr>
        <p:spPr>
          <a:xfrm>
            <a:off x="4355504" y="150100"/>
            <a:ext cx="499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3.2.1 Classifier Performance (B1)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585" name="Google Shape;585;p62" title="Unknow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6625" y="949850"/>
            <a:ext cx="3554327" cy="3462401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62"/>
          <p:cNvSpPr txBox="1"/>
          <p:nvPr/>
        </p:nvSpPr>
        <p:spPr>
          <a:xfrm>
            <a:off x="944899" y="1439952"/>
            <a:ext cx="12843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9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Precision</a:t>
            </a:r>
            <a:endParaRPr sz="1869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87" name="Google Shape;587;p62"/>
          <p:cNvSpPr txBox="1"/>
          <p:nvPr/>
        </p:nvSpPr>
        <p:spPr>
          <a:xfrm>
            <a:off x="2845886" y="1439952"/>
            <a:ext cx="12843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9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Recall</a:t>
            </a:r>
            <a:endParaRPr sz="1869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88" name="Google Shape;588;p62"/>
          <p:cNvSpPr txBox="1"/>
          <p:nvPr/>
        </p:nvSpPr>
        <p:spPr>
          <a:xfrm>
            <a:off x="944899" y="1731659"/>
            <a:ext cx="1399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7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0.9904</a:t>
            </a:r>
            <a:endParaRPr b="1" sz="257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62"/>
          <p:cNvSpPr txBox="1"/>
          <p:nvPr/>
        </p:nvSpPr>
        <p:spPr>
          <a:xfrm>
            <a:off x="2862794" y="1731659"/>
            <a:ext cx="1399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7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0.9904</a:t>
            </a:r>
            <a:endParaRPr b="1" sz="257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62"/>
          <p:cNvSpPr txBox="1"/>
          <p:nvPr/>
        </p:nvSpPr>
        <p:spPr>
          <a:xfrm>
            <a:off x="944899" y="3023341"/>
            <a:ext cx="12843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9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F1 Score</a:t>
            </a:r>
            <a:endParaRPr sz="1869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91" name="Google Shape;591;p62"/>
          <p:cNvSpPr txBox="1"/>
          <p:nvPr/>
        </p:nvSpPr>
        <p:spPr>
          <a:xfrm>
            <a:off x="2845886" y="3023341"/>
            <a:ext cx="12843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9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Accuracy</a:t>
            </a:r>
            <a:endParaRPr sz="1869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92" name="Google Shape;592;p62"/>
          <p:cNvSpPr txBox="1"/>
          <p:nvPr/>
        </p:nvSpPr>
        <p:spPr>
          <a:xfrm>
            <a:off x="944899" y="3315062"/>
            <a:ext cx="1399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7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0.9904</a:t>
            </a:r>
            <a:endParaRPr b="1" sz="257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62"/>
          <p:cNvSpPr txBox="1"/>
          <p:nvPr/>
        </p:nvSpPr>
        <p:spPr>
          <a:xfrm>
            <a:off x="2862794" y="3315062"/>
            <a:ext cx="1399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7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0.9904</a:t>
            </a:r>
            <a:endParaRPr b="1" sz="257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5" name="Google Shape;595;p62"/>
          <p:cNvSpPr txBox="1"/>
          <p:nvPr/>
        </p:nvSpPr>
        <p:spPr>
          <a:xfrm>
            <a:off x="4540975" y="4412260"/>
            <a:ext cx="460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91919"/>
                </a:solidFill>
                <a:latin typeface="Hind"/>
                <a:ea typeface="Hind"/>
                <a:cs typeface="Hind"/>
                <a:sym typeface="Hind"/>
              </a:rPr>
              <a:t>Figure 3.6: Confusion Matrix for XGBoost Classifier</a:t>
            </a:r>
            <a:endParaRPr sz="1500">
              <a:solidFill>
                <a:srgbClr val="191919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3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63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3. Current Progress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" name="Google Shape;602;p63"/>
          <p:cNvSpPr txBox="1"/>
          <p:nvPr>
            <p:ph type="title"/>
          </p:nvPr>
        </p:nvSpPr>
        <p:spPr>
          <a:xfrm>
            <a:off x="4484925" y="150100"/>
            <a:ext cx="526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3.3 Comparison of Models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graphicFrame>
        <p:nvGraphicFramePr>
          <p:cNvPr id="603" name="Google Shape;603;p63"/>
          <p:cNvGraphicFramePr/>
          <p:nvPr/>
        </p:nvGraphicFramePr>
        <p:xfrm>
          <a:off x="777193" y="88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{F5537A76-95F8-421B-BB93-B3BF78DB5E3E}</a:tableStyleId>
              </a:tblPr>
              <a:tblGrid>
                <a:gridCol w="2787875"/>
                <a:gridCol w="1133750"/>
                <a:gridCol w="1099000"/>
                <a:gridCol w="1170600"/>
                <a:gridCol w="1233900"/>
              </a:tblGrid>
              <a:tr h="442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EFEFE"/>
                          </a:solidFill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Dataset</a:t>
                      </a:r>
                      <a:endParaRPr sz="1500">
                        <a:solidFill>
                          <a:srgbClr val="FEFEFE"/>
                        </a:solidFill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>
                    <a:solidFill>
                      <a:srgbClr val="4D6D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EFEFE"/>
                          </a:solidFill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Precision</a:t>
                      </a:r>
                      <a:endParaRPr sz="1500">
                        <a:solidFill>
                          <a:srgbClr val="FEFEFE"/>
                        </a:solidFill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>
                    <a:solidFill>
                      <a:srgbClr val="4D6D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EFEFE"/>
                          </a:solidFill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Recall</a:t>
                      </a:r>
                      <a:endParaRPr sz="1500">
                        <a:solidFill>
                          <a:srgbClr val="FEFEFE"/>
                        </a:solidFill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>
                    <a:solidFill>
                      <a:srgbClr val="4D6D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EFEFE"/>
                          </a:solidFill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F1 Score</a:t>
                      </a:r>
                      <a:endParaRPr sz="1500">
                        <a:solidFill>
                          <a:srgbClr val="FEFEFE"/>
                        </a:solidFill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>
                    <a:solidFill>
                      <a:srgbClr val="4D6D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EFEFE"/>
                          </a:solidFill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Accuracy</a:t>
                      </a:r>
                      <a:endParaRPr sz="1500">
                        <a:solidFill>
                          <a:srgbClr val="FEFEFE"/>
                        </a:solidFill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>
                    <a:solidFill>
                      <a:srgbClr val="4D6D99"/>
                    </a:solidFill>
                  </a:tcPr>
                </a:tc>
              </a:tr>
              <a:tr h="70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Mixed Batch Dataset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(Batch Size: 1-7)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0.6592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0.7048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0.681</a:t>
                      </a: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2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0.6701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 anchor="ctr"/>
                </a:tc>
              </a:tr>
              <a:tr h="961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Mixed Batch Dataset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(Batch Size: 1-7)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With Hyperopt Optimization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0.6609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 anchor="ctr"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0.7048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 anchor="ctr"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0.6821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 anchor="ctr"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0.6715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 anchor="ctr">
                    <a:solidFill>
                      <a:srgbClr val="E7F0FB"/>
                    </a:solidFill>
                  </a:tcPr>
                </a:tc>
              </a:tr>
              <a:tr h="70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Single Task 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Dataset</a:t>
                      </a:r>
                      <a:endParaRPr sz="1500">
                        <a:solidFill>
                          <a:schemeClr val="dk1"/>
                        </a:solidFill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(Batch Size: 1)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0.</a:t>
                      </a: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9904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0.</a:t>
                      </a: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9904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0.</a:t>
                      </a: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9904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0.9904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1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Single Task Dataset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(Batch Size: 1)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With Hyperopt </a:t>
                      </a: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Optimization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0.</a:t>
                      </a: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9936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0.</a:t>
                      </a: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9896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0.</a:t>
                      </a: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9916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0.</a:t>
                      </a:r>
                      <a:r>
                        <a:rPr lang="en" sz="1500"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9916</a:t>
                      </a:r>
                      <a:endParaRPr sz="1500">
                        <a:latin typeface="Roboto SemiBold"/>
                        <a:ea typeface="Roboto SemiBold"/>
                        <a:cs typeface="Roboto SemiBold"/>
                        <a:sym typeface="Robot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0FB"/>
                    </a:solidFill>
                  </a:tcPr>
                </a:tc>
              </a:tr>
            </a:tbl>
          </a:graphicData>
        </a:graphic>
      </p:graphicFrame>
      <p:sp>
        <p:nvSpPr>
          <p:cNvPr id="604" name="Google Shape;604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5" name="Google Shape;605;p63"/>
          <p:cNvSpPr txBox="1"/>
          <p:nvPr/>
        </p:nvSpPr>
        <p:spPr>
          <a:xfrm>
            <a:off x="707425" y="4702966"/>
            <a:ext cx="749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91919"/>
                </a:solidFill>
                <a:latin typeface="Hind"/>
                <a:ea typeface="Hind"/>
                <a:cs typeface="Hind"/>
                <a:sym typeface="Hind"/>
              </a:rPr>
              <a:t>Table 3.2: Comparison of XGBoost models with different datasets and optimization</a:t>
            </a:r>
            <a:endParaRPr sz="1500">
              <a:solidFill>
                <a:srgbClr val="191919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4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p64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3. Current Progress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64"/>
          <p:cNvSpPr txBox="1"/>
          <p:nvPr>
            <p:ph type="title"/>
          </p:nvPr>
        </p:nvSpPr>
        <p:spPr>
          <a:xfrm>
            <a:off x="4484925" y="150100"/>
            <a:ext cx="526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3.4 Feature Importance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613" name="Google Shape;613;p64" title="Unknown-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390" y="801000"/>
            <a:ext cx="6079219" cy="403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5" name="Google Shape;615;p64"/>
          <p:cNvSpPr txBox="1"/>
          <p:nvPr/>
        </p:nvSpPr>
        <p:spPr>
          <a:xfrm>
            <a:off x="2270550" y="4711301"/>
            <a:ext cx="460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Hind"/>
                <a:ea typeface="Hind"/>
                <a:cs typeface="Hind"/>
                <a:sym typeface="Hind"/>
              </a:rPr>
              <a:t>Figure 3.7: Feature Importance for XGBoost Classifier</a:t>
            </a:r>
            <a:endParaRPr sz="1500"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5"/>
          <p:cNvSpPr/>
          <p:nvPr/>
        </p:nvSpPr>
        <p:spPr>
          <a:xfrm>
            <a:off x="4796825" y="3710525"/>
            <a:ext cx="3601800" cy="10467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65"/>
          <p:cNvSpPr/>
          <p:nvPr/>
        </p:nvSpPr>
        <p:spPr>
          <a:xfrm>
            <a:off x="4796825" y="2446750"/>
            <a:ext cx="3615300" cy="10467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Google Shape;622;p65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p65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Google Shape;624;p65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3. Current Progress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65"/>
          <p:cNvSpPr txBox="1"/>
          <p:nvPr>
            <p:ph type="title"/>
          </p:nvPr>
        </p:nvSpPr>
        <p:spPr>
          <a:xfrm>
            <a:off x="4484925" y="150100"/>
            <a:ext cx="526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3.5 System Evaluation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26" name="Google Shape;626;p65"/>
          <p:cNvSpPr txBox="1"/>
          <p:nvPr/>
        </p:nvSpPr>
        <p:spPr>
          <a:xfrm>
            <a:off x="4798450" y="1062425"/>
            <a:ext cx="37089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 Scenario</a:t>
            </a:r>
            <a:endParaRPr b="1"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"/>
              <a:buChar char="●"/>
            </a:pP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Fixed </a:t>
            </a:r>
            <a:r>
              <a:rPr b="1"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Tasks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"/>
              <a:buChar char="●"/>
            </a:pP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Same Pattern of Task Arrival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65"/>
          <p:cNvSpPr txBox="1"/>
          <p:nvPr/>
        </p:nvSpPr>
        <p:spPr>
          <a:xfrm>
            <a:off x="4936738" y="3785300"/>
            <a:ext cx="330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Computation Time Reduction:</a:t>
            </a:r>
            <a:endParaRPr sz="1800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50</a:t>
            </a:r>
            <a:r>
              <a:rPr lang="en" sz="3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%</a:t>
            </a:r>
            <a:endParaRPr sz="3000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28" name="Google Shape;628;p65"/>
          <p:cNvSpPr txBox="1"/>
          <p:nvPr/>
        </p:nvSpPr>
        <p:spPr>
          <a:xfrm>
            <a:off x="4798450" y="2521525"/>
            <a:ext cx="361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Makespan Gap:</a:t>
            </a:r>
            <a:endParaRPr sz="1800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6.94%</a:t>
            </a:r>
            <a:endParaRPr sz="3000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629" name="Google Shape;629;p65" title="Unknown-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025" y="878521"/>
            <a:ext cx="3905900" cy="3701861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1" name="Google Shape;631;p65"/>
          <p:cNvSpPr txBox="1"/>
          <p:nvPr/>
        </p:nvSpPr>
        <p:spPr>
          <a:xfrm>
            <a:off x="362975" y="4580384"/>
            <a:ext cx="43380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250" lIns="105250" spcFirstLastPara="1" rIns="105250" wrap="square" tIns="1052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1">
                <a:latin typeface="Hind"/>
                <a:ea typeface="Hind"/>
                <a:cs typeface="Hind"/>
                <a:sym typeface="Hind"/>
              </a:rPr>
              <a:t>Figure 3.8: Comparison plots for fixed 10 tasks</a:t>
            </a:r>
            <a:endParaRPr sz="1381"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6"/>
          <p:cNvSpPr/>
          <p:nvPr/>
        </p:nvSpPr>
        <p:spPr>
          <a:xfrm>
            <a:off x="4796825" y="3710525"/>
            <a:ext cx="3601800" cy="10467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p66"/>
          <p:cNvSpPr/>
          <p:nvPr/>
        </p:nvSpPr>
        <p:spPr>
          <a:xfrm>
            <a:off x="4796825" y="2446750"/>
            <a:ext cx="3615300" cy="10467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66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66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66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3. Current Progress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66"/>
          <p:cNvSpPr txBox="1"/>
          <p:nvPr>
            <p:ph type="title"/>
          </p:nvPr>
        </p:nvSpPr>
        <p:spPr>
          <a:xfrm>
            <a:off x="4484925" y="150100"/>
            <a:ext cx="526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3.5 System Evaluation (Cont’d)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42" name="Google Shape;642;p66"/>
          <p:cNvSpPr txBox="1"/>
          <p:nvPr/>
        </p:nvSpPr>
        <p:spPr>
          <a:xfrm>
            <a:off x="4798450" y="1062425"/>
            <a:ext cx="37089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 Scenario</a:t>
            </a:r>
            <a:endParaRPr b="1"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"/>
              <a:buChar char="●"/>
            </a:pP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Fixed </a:t>
            </a:r>
            <a:r>
              <a:rPr b="1"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Tasks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"/>
              <a:buChar char="●"/>
            </a:pP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Same Pattern of Task Arrival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66"/>
          <p:cNvSpPr txBox="1"/>
          <p:nvPr/>
        </p:nvSpPr>
        <p:spPr>
          <a:xfrm>
            <a:off x="4936738" y="3785300"/>
            <a:ext cx="330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Computation Time Reduction:</a:t>
            </a:r>
            <a:endParaRPr sz="1800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68.96</a:t>
            </a:r>
            <a:r>
              <a:rPr lang="en" sz="3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%</a:t>
            </a:r>
            <a:endParaRPr sz="3000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44" name="Google Shape;644;p66"/>
          <p:cNvSpPr txBox="1"/>
          <p:nvPr/>
        </p:nvSpPr>
        <p:spPr>
          <a:xfrm>
            <a:off x="4798450" y="2521525"/>
            <a:ext cx="361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Makespan Gap:</a:t>
            </a:r>
            <a:endParaRPr sz="1800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10.83</a:t>
            </a:r>
            <a:r>
              <a:rPr lang="en" sz="3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%</a:t>
            </a:r>
            <a:endParaRPr sz="3000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45" name="Google Shape;645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6" name="Google Shape;646;p66"/>
          <p:cNvSpPr txBox="1"/>
          <p:nvPr/>
        </p:nvSpPr>
        <p:spPr>
          <a:xfrm>
            <a:off x="362975" y="4580384"/>
            <a:ext cx="43380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250" lIns="105250" spcFirstLastPara="1" rIns="105250" wrap="square" tIns="1052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1">
                <a:latin typeface="Hind"/>
                <a:ea typeface="Hind"/>
                <a:cs typeface="Hind"/>
                <a:sym typeface="Hind"/>
              </a:rPr>
              <a:t>Figure 3.9: Comparison plots for fixed 20 tasks</a:t>
            </a:r>
            <a:endParaRPr sz="1381">
              <a:latin typeface="Hind"/>
              <a:ea typeface="Hind"/>
              <a:cs typeface="Hind"/>
              <a:sym typeface="Hind"/>
            </a:endParaRPr>
          </a:p>
        </p:txBody>
      </p:sp>
      <p:pic>
        <p:nvPicPr>
          <p:cNvPr id="647" name="Google Shape;647;p66" title="system_performance_horizontal-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579025" y="878521"/>
            <a:ext cx="3905900" cy="3701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7"/>
          <p:cNvSpPr/>
          <p:nvPr/>
        </p:nvSpPr>
        <p:spPr>
          <a:xfrm>
            <a:off x="3965688" y="3268672"/>
            <a:ext cx="3157800" cy="152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67"/>
          <p:cNvSpPr/>
          <p:nvPr/>
        </p:nvSpPr>
        <p:spPr>
          <a:xfrm>
            <a:off x="3965688" y="1019154"/>
            <a:ext cx="3157800" cy="1902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67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67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3. Current Progress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67"/>
          <p:cNvSpPr txBox="1"/>
          <p:nvPr>
            <p:ph type="title"/>
          </p:nvPr>
        </p:nvSpPr>
        <p:spPr>
          <a:xfrm>
            <a:off x="4484925" y="150100"/>
            <a:ext cx="526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3.6 Modified Architecture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57" name="Google Shape;657;p67"/>
          <p:cNvSpPr/>
          <p:nvPr/>
        </p:nvSpPr>
        <p:spPr>
          <a:xfrm>
            <a:off x="4096263" y="1085245"/>
            <a:ext cx="2919300" cy="438000"/>
          </a:xfrm>
          <a:prstGeom prst="rect">
            <a:avLst/>
          </a:prstGeom>
          <a:solidFill>
            <a:srgbClr val="F3F3F3"/>
          </a:solidFill>
          <a:ln cap="flat" cmpd="sng" w="17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000" lIns="82000" spcFirstLastPara="1" rIns="82000" wrap="square" tIns="8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9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New Task Arrival</a:t>
            </a:r>
            <a:endParaRPr b="1" sz="169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p67"/>
          <p:cNvSpPr/>
          <p:nvPr/>
        </p:nvSpPr>
        <p:spPr>
          <a:xfrm>
            <a:off x="4096263" y="1729451"/>
            <a:ext cx="2919300" cy="438000"/>
          </a:xfrm>
          <a:prstGeom prst="rect">
            <a:avLst/>
          </a:prstGeom>
          <a:solidFill>
            <a:srgbClr val="F3F3F3"/>
          </a:solidFill>
          <a:ln cap="flat" cmpd="sng" w="17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000" lIns="82000" spcFirstLastPara="1" rIns="82000" wrap="square" tIns="8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9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XGBoost Classifier</a:t>
            </a:r>
            <a:endParaRPr b="1" sz="169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p67"/>
          <p:cNvSpPr/>
          <p:nvPr/>
        </p:nvSpPr>
        <p:spPr>
          <a:xfrm>
            <a:off x="4096263" y="2373657"/>
            <a:ext cx="2919300" cy="438000"/>
          </a:xfrm>
          <a:prstGeom prst="rect">
            <a:avLst/>
          </a:prstGeom>
          <a:solidFill>
            <a:srgbClr val="F3F3F3"/>
          </a:solidFill>
          <a:ln cap="flat" cmpd="sng" w="17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000" lIns="82000" spcFirstLastPara="1" rIns="82000" wrap="square" tIns="8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9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Append to Robot Queue</a:t>
            </a:r>
            <a:endParaRPr b="1" sz="169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0" name="Google Shape;660;p67"/>
          <p:cNvSpPr/>
          <p:nvPr/>
        </p:nvSpPr>
        <p:spPr>
          <a:xfrm>
            <a:off x="4096263" y="3421060"/>
            <a:ext cx="2919300" cy="644100"/>
          </a:xfrm>
          <a:prstGeom prst="rect">
            <a:avLst/>
          </a:prstGeom>
          <a:solidFill>
            <a:srgbClr val="F97369"/>
          </a:solidFill>
          <a:ln cap="flat" cmpd="sng" w="17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000" lIns="82000" spcFirstLastPara="1" rIns="82000" wrap="square" tIns="8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94">
                <a:solidFill>
                  <a:srgbClr val="FEFEFE"/>
                </a:solidFill>
                <a:latin typeface="Roboto"/>
                <a:ea typeface="Roboto"/>
                <a:cs typeface="Roboto"/>
                <a:sym typeface="Roboto"/>
              </a:rPr>
              <a:t>XGBoost Learning to Rank (LTR) Algorithm</a:t>
            </a:r>
            <a:endParaRPr b="1" sz="1694">
              <a:solidFill>
                <a:srgbClr val="FEFE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1" name="Google Shape;661;p67"/>
          <p:cNvSpPr/>
          <p:nvPr/>
        </p:nvSpPr>
        <p:spPr>
          <a:xfrm>
            <a:off x="4096263" y="4255546"/>
            <a:ext cx="2919300" cy="438000"/>
          </a:xfrm>
          <a:prstGeom prst="rect">
            <a:avLst/>
          </a:prstGeom>
          <a:solidFill>
            <a:schemeClr val="lt1"/>
          </a:solidFill>
          <a:ln cap="flat" cmpd="sng" w="17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000" lIns="82000" spcFirstLastPara="1" rIns="82000" wrap="square" tIns="82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9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Reorder Pending Tasks</a:t>
            </a:r>
            <a:endParaRPr b="1" sz="169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2" name="Google Shape;662;p67"/>
          <p:cNvCxnSpPr>
            <a:stCxn id="657" idx="2"/>
            <a:endCxn id="658" idx="0"/>
          </p:cNvCxnSpPr>
          <p:nvPr/>
        </p:nvCxnSpPr>
        <p:spPr>
          <a:xfrm>
            <a:off x="5555913" y="1523245"/>
            <a:ext cx="0" cy="2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3" name="Google Shape;663;p67"/>
          <p:cNvCxnSpPr>
            <a:stCxn id="658" idx="2"/>
            <a:endCxn id="659" idx="0"/>
          </p:cNvCxnSpPr>
          <p:nvPr/>
        </p:nvCxnSpPr>
        <p:spPr>
          <a:xfrm>
            <a:off x="5555913" y="2167451"/>
            <a:ext cx="0" cy="2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4" name="Google Shape;664;p67"/>
          <p:cNvCxnSpPr>
            <a:stCxn id="659" idx="2"/>
            <a:endCxn id="660" idx="0"/>
          </p:cNvCxnSpPr>
          <p:nvPr/>
        </p:nvCxnSpPr>
        <p:spPr>
          <a:xfrm>
            <a:off x="5555913" y="2811657"/>
            <a:ext cx="0" cy="60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5" name="Google Shape;665;p67"/>
          <p:cNvCxnSpPr>
            <a:stCxn id="660" idx="2"/>
            <a:endCxn id="661" idx="0"/>
          </p:cNvCxnSpPr>
          <p:nvPr/>
        </p:nvCxnSpPr>
        <p:spPr>
          <a:xfrm>
            <a:off x="5555913" y="4065160"/>
            <a:ext cx="0" cy="19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6" name="Google Shape;666;p67"/>
          <p:cNvSpPr txBox="1"/>
          <p:nvPr/>
        </p:nvSpPr>
        <p:spPr>
          <a:xfrm>
            <a:off x="7191971" y="1462718"/>
            <a:ext cx="6186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First Come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First Serve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Assignment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67"/>
          <p:cNvSpPr txBox="1"/>
          <p:nvPr/>
        </p:nvSpPr>
        <p:spPr>
          <a:xfrm>
            <a:off x="7191971" y="3415009"/>
            <a:ext cx="6186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Task Assignment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 Dynamic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Task Re-ranking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67"/>
          <p:cNvSpPr txBox="1"/>
          <p:nvPr/>
        </p:nvSpPr>
        <p:spPr>
          <a:xfrm>
            <a:off x="439800" y="1113675"/>
            <a:ext cx="32601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700"/>
              <a:buFont typeface="Roboto Medium"/>
              <a:buChar char="●"/>
            </a:pPr>
            <a:r>
              <a:rPr lang="en" sz="18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Makespan gap remains between </a:t>
            </a:r>
            <a:r>
              <a:rPr lang="en" sz="18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XGBoost </a:t>
            </a:r>
            <a:r>
              <a:rPr lang="en" sz="18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Classifier and MILP.</a:t>
            </a:r>
            <a:endParaRPr sz="18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700"/>
              <a:buFont typeface="Roboto Medium"/>
              <a:buChar char="●"/>
            </a:pPr>
            <a:r>
              <a:rPr lang="en" sz="18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MILP reduces makespan through task reordering.</a:t>
            </a:r>
            <a:endParaRPr sz="18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700"/>
              <a:buFont typeface="Roboto Medium"/>
              <a:buChar char="●"/>
            </a:pPr>
            <a:r>
              <a:rPr lang="en" sz="18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Developing XGBoost Learning-to-Rank for task re-ranking.</a:t>
            </a:r>
            <a:endParaRPr sz="18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69" name="Google Shape;669;p67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8"/>
          <p:cNvSpPr/>
          <p:nvPr/>
        </p:nvSpPr>
        <p:spPr>
          <a:xfrm>
            <a:off x="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68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p68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3. Current Progress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9" name="Google Shape;679;p68"/>
          <p:cNvSpPr txBox="1"/>
          <p:nvPr>
            <p:ph type="title"/>
          </p:nvPr>
        </p:nvSpPr>
        <p:spPr>
          <a:xfrm>
            <a:off x="4224695" y="150100"/>
            <a:ext cx="526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3.6.1 XGBoost LTR Dataset Features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80" name="Google Shape;680;p68"/>
          <p:cNvSpPr/>
          <p:nvPr/>
        </p:nvSpPr>
        <p:spPr>
          <a:xfrm>
            <a:off x="527700" y="961225"/>
            <a:ext cx="4139100" cy="3843600"/>
          </a:xfrm>
          <a:prstGeom prst="roundRect">
            <a:avLst>
              <a:gd fmla="val 794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68"/>
          <p:cNvSpPr/>
          <p:nvPr/>
        </p:nvSpPr>
        <p:spPr>
          <a:xfrm>
            <a:off x="4879475" y="961225"/>
            <a:ext cx="3858600" cy="1880700"/>
          </a:xfrm>
          <a:prstGeom prst="roundRect">
            <a:avLst>
              <a:gd fmla="val 1074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68"/>
          <p:cNvSpPr/>
          <p:nvPr/>
        </p:nvSpPr>
        <p:spPr>
          <a:xfrm>
            <a:off x="4879475" y="3005856"/>
            <a:ext cx="3858600" cy="1799100"/>
          </a:xfrm>
          <a:prstGeom prst="roundRect">
            <a:avLst>
              <a:gd fmla="val 1074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68"/>
          <p:cNvSpPr txBox="1"/>
          <p:nvPr/>
        </p:nvSpPr>
        <p:spPr>
          <a:xfrm>
            <a:off x="856800" y="1089250"/>
            <a:ext cx="369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125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Task Distance Relationship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68"/>
          <p:cNvSpPr txBox="1"/>
          <p:nvPr/>
        </p:nvSpPr>
        <p:spPr>
          <a:xfrm>
            <a:off x="5063366" y="1089250"/>
            <a:ext cx="369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125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Deadline &amp; Task Urgency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68"/>
          <p:cNvSpPr txBox="1"/>
          <p:nvPr/>
        </p:nvSpPr>
        <p:spPr>
          <a:xfrm>
            <a:off x="5063366" y="3095614"/>
            <a:ext cx="369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125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Completion Prediction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68"/>
          <p:cNvSpPr txBox="1"/>
          <p:nvPr/>
        </p:nvSpPr>
        <p:spPr>
          <a:xfrm>
            <a:off x="856800" y="2841925"/>
            <a:ext cx="40251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 to Nearest Pickup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Average Distance to Other Pickups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Nearest Next Task Distance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Average Next Task Distance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7" name="Google Shape;687;p68"/>
          <p:cNvSpPr txBox="1"/>
          <p:nvPr/>
        </p:nvSpPr>
        <p:spPr>
          <a:xfrm>
            <a:off x="5063366" y="1551300"/>
            <a:ext cx="29967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Remaining deadline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Deadline comparison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Estimated lateness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68"/>
          <p:cNvSpPr txBox="1"/>
          <p:nvPr/>
        </p:nvSpPr>
        <p:spPr>
          <a:xfrm>
            <a:off x="5063366" y="3588214"/>
            <a:ext cx="40251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Estimated completion time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Finish time if executed next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Finish time if executed last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p68"/>
          <p:cNvSpPr txBox="1"/>
          <p:nvPr/>
        </p:nvSpPr>
        <p:spPr>
          <a:xfrm>
            <a:off x="856800" y="1703700"/>
            <a:ext cx="36153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Measures how close a task is to other tasks to estimate travel efficiency.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4" name="Google Shape;694;p69" title="group_size_distribution_portrait.png"/>
          <p:cNvPicPr preferRelativeResize="0"/>
          <p:nvPr/>
        </p:nvPicPr>
        <p:blipFill rotWithShape="1">
          <a:blip r:embed="rId3">
            <a:alphaModFix/>
          </a:blip>
          <a:srcRect b="6226" l="0" r="0" t="4964"/>
          <a:stretch/>
        </p:blipFill>
        <p:spPr>
          <a:xfrm>
            <a:off x="5203150" y="970962"/>
            <a:ext cx="3615298" cy="3612877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69"/>
          <p:cNvSpPr/>
          <p:nvPr/>
        </p:nvSpPr>
        <p:spPr>
          <a:xfrm>
            <a:off x="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6" name="Google Shape;696;p69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69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3. Current Progress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69"/>
          <p:cNvSpPr txBox="1"/>
          <p:nvPr>
            <p:ph type="title"/>
          </p:nvPr>
        </p:nvSpPr>
        <p:spPr>
          <a:xfrm>
            <a:off x="4224695" y="150100"/>
            <a:ext cx="526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3.6.2 XGBoost LTR Dataset Analysis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99" name="Google Shape;699;p69"/>
          <p:cNvSpPr txBox="1"/>
          <p:nvPr/>
        </p:nvSpPr>
        <p:spPr>
          <a:xfrm>
            <a:off x="727350" y="950083"/>
            <a:ext cx="262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Samples: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0" name="Google Shape;700;p69"/>
          <p:cNvCxnSpPr/>
          <p:nvPr/>
        </p:nvCxnSpPr>
        <p:spPr>
          <a:xfrm>
            <a:off x="825025" y="1494108"/>
            <a:ext cx="3915600" cy="0"/>
          </a:xfrm>
          <a:prstGeom prst="straightConnector1">
            <a:avLst/>
          </a:prstGeom>
          <a:noFill/>
          <a:ln cap="flat" cmpd="sng" w="114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1" name="Google Shape;701;p69"/>
          <p:cNvSpPr txBox="1"/>
          <p:nvPr/>
        </p:nvSpPr>
        <p:spPr>
          <a:xfrm>
            <a:off x="3155750" y="950083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10,7865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69"/>
          <p:cNvSpPr txBox="1"/>
          <p:nvPr/>
        </p:nvSpPr>
        <p:spPr>
          <a:xfrm>
            <a:off x="727350" y="2233354"/>
            <a:ext cx="196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Objective</a:t>
            </a: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3" name="Google Shape;703;p69"/>
          <p:cNvCxnSpPr/>
          <p:nvPr/>
        </p:nvCxnSpPr>
        <p:spPr>
          <a:xfrm>
            <a:off x="825025" y="2777390"/>
            <a:ext cx="3915600" cy="0"/>
          </a:xfrm>
          <a:prstGeom prst="straightConnector1">
            <a:avLst/>
          </a:prstGeom>
          <a:noFill/>
          <a:ln cap="flat" cmpd="sng" w="114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4" name="Google Shape;704;p69"/>
          <p:cNvSpPr txBox="1"/>
          <p:nvPr/>
        </p:nvSpPr>
        <p:spPr>
          <a:xfrm>
            <a:off x="3155750" y="2238070"/>
            <a:ext cx="21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NDCG@1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5" name="Google Shape;705;p69"/>
          <p:cNvSpPr txBox="1"/>
          <p:nvPr/>
        </p:nvSpPr>
        <p:spPr>
          <a:xfrm>
            <a:off x="727350" y="2870270"/>
            <a:ext cx="246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Evaluation Metric: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6" name="Google Shape;706;p69"/>
          <p:cNvCxnSpPr/>
          <p:nvPr/>
        </p:nvCxnSpPr>
        <p:spPr>
          <a:xfrm>
            <a:off x="825025" y="3414283"/>
            <a:ext cx="3940200" cy="0"/>
          </a:xfrm>
          <a:prstGeom prst="straightConnector1">
            <a:avLst/>
          </a:prstGeom>
          <a:noFill/>
          <a:ln cap="flat" cmpd="sng" w="114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7" name="Google Shape;707;p69"/>
          <p:cNvSpPr txBox="1"/>
          <p:nvPr/>
        </p:nvSpPr>
        <p:spPr>
          <a:xfrm>
            <a:off x="3221650" y="2879720"/>
            <a:ext cx="119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NDCG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69"/>
          <p:cNvSpPr txBox="1"/>
          <p:nvPr/>
        </p:nvSpPr>
        <p:spPr>
          <a:xfrm>
            <a:off x="727350" y="1591708"/>
            <a:ext cx="282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Features: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9" name="Google Shape;709;p69"/>
          <p:cNvCxnSpPr/>
          <p:nvPr/>
        </p:nvCxnSpPr>
        <p:spPr>
          <a:xfrm>
            <a:off x="825025" y="2135749"/>
            <a:ext cx="3915600" cy="0"/>
          </a:xfrm>
          <a:prstGeom prst="straightConnector1">
            <a:avLst/>
          </a:prstGeom>
          <a:noFill/>
          <a:ln cap="flat" cmpd="sng" w="114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69"/>
          <p:cNvSpPr txBox="1"/>
          <p:nvPr/>
        </p:nvSpPr>
        <p:spPr>
          <a:xfrm>
            <a:off x="3155750" y="1594075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80</a:t>
            </a: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% </a:t>
            </a: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 20%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1" name="Google Shape;711;p69"/>
          <p:cNvSpPr txBox="1"/>
          <p:nvPr/>
        </p:nvSpPr>
        <p:spPr>
          <a:xfrm>
            <a:off x="748829" y="3550758"/>
            <a:ext cx="4760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NDCG        = Normalized Discounted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            Cumulative Gain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12" name="Google Shape;712;p69"/>
          <p:cNvSpPr txBox="1"/>
          <p:nvPr/>
        </p:nvSpPr>
        <p:spPr>
          <a:xfrm>
            <a:off x="748829" y="4165383"/>
            <a:ext cx="4760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NDCG@1 = Normalized Discounted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           Cumulative Gain at Top-1 Task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13" name="Google Shape;713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4" name="Google Shape;714;p69"/>
          <p:cNvSpPr txBox="1"/>
          <p:nvPr/>
        </p:nvSpPr>
        <p:spPr>
          <a:xfrm>
            <a:off x="5273050" y="4580375"/>
            <a:ext cx="3475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250" lIns="105250" spcFirstLastPara="1" rIns="105250" wrap="square" tIns="1052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1">
                <a:latin typeface="Hind"/>
                <a:ea typeface="Hind"/>
                <a:cs typeface="Hind"/>
                <a:sym typeface="Hind"/>
              </a:rPr>
              <a:t>Figure 3.10:Group Sizes Distribution</a:t>
            </a:r>
            <a:endParaRPr sz="1381"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70"/>
          <p:cNvSpPr/>
          <p:nvPr/>
        </p:nvSpPr>
        <p:spPr>
          <a:xfrm>
            <a:off x="1384700" y="999274"/>
            <a:ext cx="5737800" cy="1847100"/>
          </a:xfrm>
          <a:prstGeom prst="roundRect">
            <a:avLst>
              <a:gd fmla="val 10615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74000" lIns="74000" spcFirstLastPara="1" rIns="74000" wrap="square" tIns="7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Google Shape;720;p70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1" name="Google Shape;721;p70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3. Current Progress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Demystifying NDCG. How to best use this important metric… | by Aparna  Dhinakaran | TDS Archive | Medium" id="722" name="Google Shape;722;p70"/>
          <p:cNvPicPr preferRelativeResize="0"/>
          <p:nvPr/>
        </p:nvPicPr>
        <p:blipFill rotWithShape="1">
          <a:blip r:embed="rId3">
            <a:alphaModFix/>
          </a:blip>
          <a:srcRect b="16124" l="5439" r="5979" t="13345"/>
          <a:stretch/>
        </p:blipFill>
        <p:spPr>
          <a:xfrm>
            <a:off x="1441600" y="1044908"/>
            <a:ext cx="5672525" cy="171788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70"/>
          <p:cNvSpPr txBox="1"/>
          <p:nvPr/>
        </p:nvSpPr>
        <p:spPr>
          <a:xfrm>
            <a:off x="1441600" y="2968450"/>
            <a:ext cx="953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NDCG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DCG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IDCG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Gains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K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i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24" name="Google Shape;724;p70"/>
          <p:cNvSpPr txBox="1"/>
          <p:nvPr/>
        </p:nvSpPr>
        <p:spPr>
          <a:xfrm>
            <a:off x="2420114" y="2968450"/>
            <a:ext cx="49632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Normalized Discounted Cumulative Gain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Discounted Cumulative Gain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Ideal Discounted Cumulative Gain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relevance (gain) score of the task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Number of top-ranked items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position (rank index) of a task in the ranked list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25" name="Google Shape;725;p70"/>
          <p:cNvSpPr txBox="1"/>
          <p:nvPr/>
        </p:nvSpPr>
        <p:spPr>
          <a:xfrm>
            <a:off x="2201625" y="2968450"/>
            <a:ext cx="463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=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=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=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=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=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=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26" name="Google Shape;726;p70"/>
          <p:cNvSpPr/>
          <p:nvPr/>
        </p:nvSpPr>
        <p:spPr>
          <a:xfrm>
            <a:off x="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8" name="Google Shape;728;p70"/>
          <p:cNvSpPr txBox="1"/>
          <p:nvPr>
            <p:ph type="title"/>
          </p:nvPr>
        </p:nvSpPr>
        <p:spPr>
          <a:xfrm>
            <a:off x="4108238" y="177709"/>
            <a:ext cx="526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3.6.3 XGBoost LTR Evaluation Metrics</a:t>
            </a:r>
            <a:endParaRPr sz="21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71"/>
          <p:cNvSpPr/>
          <p:nvPr/>
        </p:nvSpPr>
        <p:spPr>
          <a:xfrm>
            <a:off x="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71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5" name="Google Shape;735;p71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3. Current Progress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6" name="Google Shape;736;p71"/>
          <p:cNvSpPr txBox="1"/>
          <p:nvPr>
            <p:ph type="title"/>
          </p:nvPr>
        </p:nvSpPr>
        <p:spPr>
          <a:xfrm>
            <a:off x="4108238" y="177709"/>
            <a:ext cx="526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3.6.4 XGBoost LTR Model Performance</a:t>
            </a:r>
            <a:endParaRPr sz="21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737" name="Google Shape;737;p71" title="ndcg@1 over trainin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0726" y="929225"/>
            <a:ext cx="5908773" cy="367425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71"/>
          <p:cNvSpPr/>
          <p:nvPr/>
        </p:nvSpPr>
        <p:spPr>
          <a:xfrm>
            <a:off x="717425" y="1283950"/>
            <a:ext cx="1627500" cy="1325400"/>
          </a:xfrm>
          <a:prstGeom prst="roundRect">
            <a:avLst>
              <a:gd fmla="val 16667" name="adj"/>
            </a:avLst>
          </a:prstGeom>
          <a:solidFill>
            <a:srgbClr val="FEFEFE"/>
          </a:solidFill>
          <a:ln>
            <a:noFill/>
          </a:ln>
          <a:effectLst>
            <a:outerShdw blurRad="185738" rotWithShape="0" algn="bl" dir="3780000" dist="104775">
              <a:srgbClr val="000000">
                <a:alpha val="11000"/>
              </a:srgbClr>
            </a:outerShdw>
          </a:effectLst>
        </p:spPr>
        <p:txBody>
          <a:bodyPr anchorCtr="0" anchor="ctr" bIns="97675" lIns="97675" spcFirstLastPara="1" rIns="97675" wrap="square" tIns="9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9" name="Google Shape;739;p71"/>
          <p:cNvSpPr/>
          <p:nvPr/>
        </p:nvSpPr>
        <p:spPr>
          <a:xfrm>
            <a:off x="717425" y="2891605"/>
            <a:ext cx="1627500" cy="1325400"/>
          </a:xfrm>
          <a:prstGeom prst="roundRect">
            <a:avLst>
              <a:gd fmla="val 16667" name="adj"/>
            </a:avLst>
          </a:prstGeom>
          <a:solidFill>
            <a:srgbClr val="FEFEFE"/>
          </a:solidFill>
          <a:ln>
            <a:noFill/>
          </a:ln>
          <a:effectLst>
            <a:outerShdw blurRad="185738" rotWithShape="0" algn="bl" dir="3780000" dist="104775">
              <a:srgbClr val="000000">
                <a:alpha val="11000"/>
              </a:srgbClr>
            </a:outerShdw>
          </a:effectLst>
        </p:spPr>
        <p:txBody>
          <a:bodyPr anchorCtr="0" anchor="ctr" bIns="97675" lIns="97675" spcFirstLastPara="1" rIns="97675" wrap="square" tIns="9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p71"/>
          <p:cNvSpPr txBox="1"/>
          <p:nvPr/>
        </p:nvSpPr>
        <p:spPr>
          <a:xfrm>
            <a:off x="944899" y="1470502"/>
            <a:ext cx="12843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9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NDCG:</a:t>
            </a:r>
            <a:endParaRPr sz="1869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41" name="Google Shape;741;p71"/>
          <p:cNvSpPr txBox="1"/>
          <p:nvPr/>
        </p:nvSpPr>
        <p:spPr>
          <a:xfrm>
            <a:off x="944899" y="1762209"/>
            <a:ext cx="1399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7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0.8835</a:t>
            </a:r>
            <a:endParaRPr b="1" sz="257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p71"/>
          <p:cNvSpPr txBox="1"/>
          <p:nvPr/>
        </p:nvSpPr>
        <p:spPr>
          <a:xfrm>
            <a:off x="944899" y="3053891"/>
            <a:ext cx="12843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9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NDCG@1</a:t>
            </a:r>
            <a:endParaRPr sz="1869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43" name="Google Shape;743;p71"/>
          <p:cNvSpPr txBox="1"/>
          <p:nvPr/>
        </p:nvSpPr>
        <p:spPr>
          <a:xfrm>
            <a:off x="944899" y="3345612"/>
            <a:ext cx="1399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00" lIns="106800" spcFirstLastPara="1" rIns="106800" wrap="square" tIns="1068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7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0.7002</a:t>
            </a:r>
            <a:endParaRPr b="1" sz="257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5" name="Google Shape;745;p71"/>
          <p:cNvSpPr txBox="1"/>
          <p:nvPr/>
        </p:nvSpPr>
        <p:spPr>
          <a:xfrm>
            <a:off x="3576127" y="4497175"/>
            <a:ext cx="4980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250" lIns="105250" spcFirstLastPara="1" rIns="105250" wrap="square" tIns="1052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1">
                <a:latin typeface="Hind"/>
                <a:ea typeface="Hind"/>
                <a:cs typeface="Hind"/>
                <a:sym typeface="Hind"/>
              </a:rPr>
              <a:t>Figure 3.11: Plot for NDCG@1 During Training</a:t>
            </a:r>
            <a:endParaRPr sz="1381"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72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Google Shape;751;p72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72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. Tests and Results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3" name="Google Shape;75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375" y="801000"/>
            <a:ext cx="6951250" cy="4249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72"/>
          <p:cNvSpPr txBox="1"/>
          <p:nvPr>
            <p:ph type="title"/>
          </p:nvPr>
        </p:nvSpPr>
        <p:spPr>
          <a:xfrm>
            <a:off x="4717838" y="150100"/>
            <a:ext cx="526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4.1 Simulation Video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55" name="Google Shape;755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73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p73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4. Tests and Results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2" name="Google Shape;762;p73"/>
          <p:cNvSpPr txBox="1"/>
          <p:nvPr/>
        </p:nvSpPr>
        <p:spPr>
          <a:xfrm>
            <a:off x="4798450" y="895593"/>
            <a:ext cx="3708900" cy="11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 Scenario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Fixed </a:t>
            </a: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Tasks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Same Pattern of Task Arrival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3" name="Google Shape;763;p73"/>
          <p:cNvSpPr txBox="1"/>
          <p:nvPr>
            <p:ph type="title"/>
          </p:nvPr>
        </p:nvSpPr>
        <p:spPr>
          <a:xfrm>
            <a:off x="4717838" y="150100"/>
            <a:ext cx="526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4.2 System Evaluation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64" name="Google Shape;764;p73"/>
          <p:cNvSpPr/>
          <p:nvPr/>
        </p:nvSpPr>
        <p:spPr>
          <a:xfrm>
            <a:off x="4796825" y="2525600"/>
            <a:ext cx="3868800" cy="91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5" name="Google Shape;765;p73"/>
          <p:cNvSpPr txBox="1"/>
          <p:nvPr/>
        </p:nvSpPr>
        <p:spPr>
          <a:xfrm>
            <a:off x="4841000" y="2078400"/>
            <a:ext cx="36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Makespan Gap: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p73"/>
          <p:cNvSpPr txBox="1"/>
          <p:nvPr/>
        </p:nvSpPr>
        <p:spPr>
          <a:xfrm>
            <a:off x="4954300" y="2559270"/>
            <a:ext cx="144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Ranker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7" name="Google Shape;767;p73"/>
          <p:cNvSpPr txBox="1"/>
          <p:nvPr/>
        </p:nvSpPr>
        <p:spPr>
          <a:xfrm>
            <a:off x="6260300" y="2559267"/>
            <a:ext cx="279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First Come First Serve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8" name="Google Shape;768;p73"/>
          <p:cNvSpPr/>
          <p:nvPr/>
        </p:nvSpPr>
        <p:spPr>
          <a:xfrm>
            <a:off x="4796825" y="3952250"/>
            <a:ext cx="3868800" cy="91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9" name="Google Shape;769;p73"/>
          <p:cNvSpPr txBox="1"/>
          <p:nvPr/>
        </p:nvSpPr>
        <p:spPr>
          <a:xfrm>
            <a:off x="4841000" y="3505050"/>
            <a:ext cx="36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Computation</a:t>
            </a: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Time Reduction: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0" name="Google Shape;770;p73"/>
          <p:cNvSpPr txBox="1"/>
          <p:nvPr/>
        </p:nvSpPr>
        <p:spPr>
          <a:xfrm>
            <a:off x="4954300" y="3985920"/>
            <a:ext cx="144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Ranker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1" name="Google Shape;771;p73"/>
          <p:cNvSpPr txBox="1"/>
          <p:nvPr/>
        </p:nvSpPr>
        <p:spPr>
          <a:xfrm>
            <a:off x="6260300" y="3985917"/>
            <a:ext cx="2359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First Come First Serve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p73"/>
          <p:cNvSpPr txBox="1"/>
          <p:nvPr/>
        </p:nvSpPr>
        <p:spPr>
          <a:xfrm>
            <a:off x="4982203" y="2793250"/>
            <a:ext cx="107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2.86</a:t>
            </a:r>
            <a:r>
              <a:rPr lang="en" sz="2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%</a:t>
            </a:r>
            <a:endParaRPr sz="2000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73" name="Google Shape;773;p73"/>
          <p:cNvSpPr txBox="1"/>
          <p:nvPr/>
        </p:nvSpPr>
        <p:spPr>
          <a:xfrm>
            <a:off x="6260301" y="2793250"/>
            <a:ext cx="127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6.94%</a:t>
            </a:r>
            <a:endParaRPr sz="2000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74" name="Google Shape;774;p73"/>
          <p:cNvSpPr txBox="1"/>
          <p:nvPr/>
        </p:nvSpPr>
        <p:spPr>
          <a:xfrm>
            <a:off x="4982196" y="4212717"/>
            <a:ext cx="93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15</a:t>
            </a:r>
            <a:r>
              <a:rPr lang="en" sz="2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%</a:t>
            </a:r>
            <a:endParaRPr sz="2000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75" name="Google Shape;775;p73"/>
          <p:cNvSpPr txBox="1"/>
          <p:nvPr/>
        </p:nvSpPr>
        <p:spPr>
          <a:xfrm>
            <a:off x="6260296" y="4212717"/>
            <a:ext cx="93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50</a:t>
            </a:r>
            <a:r>
              <a:rPr lang="en" sz="2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%</a:t>
            </a:r>
            <a:endParaRPr sz="2000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776" name="Google Shape;776;p73" title="system_performance_horizontal-3.png"/>
          <p:cNvPicPr preferRelativeResize="0"/>
          <p:nvPr/>
        </p:nvPicPr>
        <p:blipFill rotWithShape="1">
          <a:blip r:embed="rId3">
            <a:alphaModFix/>
          </a:blip>
          <a:srcRect b="53155" l="0" r="0" t="-1399"/>
          <a:stretch/>
        </p:blipFill>
        <p:spPr>
          <a:xfrm>
            <a:off x="606712" y="811326"/>
            <a:ext cx="3515225" cy="1933727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8" name="Google Shape;778;p73"/>
          <p:cNvSpPr txBox="1"/>
          <p:nvPr/>
        </p:nvSpPr>
        <p:spPr>
          <a:xfrm>
            <a:off x="286875" y="4657909"/>
            <a:ext cx="43380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250" lIns="105250" spcFirstLastPara="1" rIns="105250" wrap="square" tIns="1052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1">
                <a:latin typeface="Hind"/>
                <a:ea typeface="Hind"/>
                <a:cs typeface="Hind"/>
                <a:sym typeface="Hind"/>
              </a:rPr>
              <a:t>Figure 4.1: Comparison plots for fixed 10 tasks</a:t>
            </a:r>
            <a:endParaRPr sz="1381">
              <a:latin typeface="Hind"/>
              <a:ea typeface="Hind"/>
              <a:cs typeface="Hind"/>
              <a:sym typeface="Hind"/>
            </a:endParaRPr>
          </a:p>
        </p:txBody>
      </p:sp>
      <p:pic>
        <p:nvPicPr>
          <p:cNvPr id="779" name="Google Shape;779;p73" title="system_performance_horizontal-3.png"/>
          <p:cNvPicPr preferRelativeResize="0"/>
          <p:nvPr/>
        </p:nvPicPr>
        <p:blipFill rotWithShape="1">
          <a:blip r:embed="rId3">
            <a:alphaModFix/>
          </a:blip>
          <a:srcRect b="-815" l="0" r="0" t="52571"/>
          <a:stretch/>
        </p:blipFill>
        <p:spPr>
          <a:xfrm>
            <a:off x="606712" y="2753385"/>
            <a:ext cx="3515225" cy="1933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4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74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4. Tests and Results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74"/>
          <p:cNvSpPr txBox="1"/>
          <p:nvPr>
            <p:ph type="title"/>
          </p:nvPr>
        </p:nvSpPr>
        <p:spPr>
          <a:xfrm>
            <a:off x="4717838" y="150100"/>
            <a:ext cx="526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4.2 System Evaluation (Cont’d)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87" name="Google Shape;787;p74"/>
          <p:cNvSpPr txBox="1"/>
          <p:nvPr/>
        </p:nvSpPr>
        <p:spPr>
          <a:xfrm>
            <a:off x="4798450" y="895593"/>
            <a:ext cx="3708900" cy="11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 Scenario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Fixed</a:t>
            </a: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20</a:t>
            </a: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Tasks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Same Pattern of Task Arrival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p74"/>
          <p:cNvSpPr/>
          <p:nvPr/>
        </p:nvSpPr>
        <p:spPr>
          <a:xfrm>
            <a:off x="4796825" y="2525600"/>
            <a:ext cx="3868800" cy="91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9" name="Google Shape;789;p74"/>
          <p:cNvSpPr txBox="1"/>
          <p:nvPr/>
        </p:nvSpPr>
        <p:spPr>
          <a:xfrm>
            <a:off x="4841000" y="2078400"/>
            <a:ext cx="36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Makespan Gap: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0" name="Google Shape;790;p74"/>
          <p:cNvSpPr txBox="1"/>
          <p:nvPr/>
        </p:nvSpPr>
        <p:spPr>
          <a:xfrm>
            <a:off x="4954300" y="2559270"/>
            <a:ext cx="144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Ranker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1" name="Google Shape;791;p74"/>
          <p:cNvSpPr txBox="1"/>
          <p:nvPr/>
        </p:nvSpPr>
        <p:spPr>
          <a:xfrm>
            <a:off x="6260300" y="2559267"/>
            <a:ext cx="279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First Come First Serve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2" name="Google Shape;792;p74"/>
          <p:cNvSpPr/>
          <p:nvPr/>
        </p:nvSpPr>
        <p:spPr>
          <a:xfrm>
            <a:off x="4796825" y="3952250"/>
            <a:ext cx="3868800" cy="91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3" name="Google Shape;793;p74"/>
          <p:cNvSpPr txBox="1"/>
          <p:nvPr/>
        </p:nvSpPr>
        <p:spPr>
          <a:xfrm>
            <a:off x="4841000" y="3505050"/>
            <a:ext cx="36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Computation Time Reduction: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4" name="Google Shape;794;p74"/>
          <p:cNvSpPr txBox="1"/>
          <p:nvPr/>
        </p:nvSpPr>
        <p:spPr>
          <a:xfrm>
            <a:off x="4954300" y="3985920"/>
            <a:ext cx="144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Ranker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5" name="Google Shape;795;p74"/>
          <p:cNvSpPr txBox="1"/>
          <p:nvPr/>
        </p:nvSpPr>
        <p:spPr>
          <a:xfrm>
            <a:off x="6260300" y="3985917"/>
            <a:ext cx="2359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First Come First Serve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6" name="Google Shape;796;p74"/>
          <p:cNvSpPr txBox="1"/>
          <p:nvPr/>
        </p:nvSpPr>
        <p:spPr>
          <a:xfrm>
            <a:off x="4982202" y="2793250"/>
            <a:ext cx="134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8</a:t>
            </a:r>
            <a:r>
              <a:rPr lang="en" sz="2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.88%</a:t>
            </a:r>
            <a:endParaRPr sz="2000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97" name="Google Shape;797;p74"/>
          <p:cNvSpPr txBox="1"/>
          <p:nvPr/>
        </p:nvSpPr>
        <p:spPr>
          <a:xfrm>
            <a:off x="6260302" y="2793250"/>
            <a:ext cx="144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10</a:t>
            </a:r>
            <a:r>
              <a:rPr lang="en" sz="2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.83%</a:t>
            </a:r>
            <a:endParaRPr sz="2000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98" name="Google Shape;798;p74"/>
          <p:cNvSpPr txBox="1"/>
          <p:nvPr/>
        </p:nvSpPr>
        <p:spPr>
          <a:xfrm>
            <a:off x="4982201" y="4212725"/>
            <a:ext cx="120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36.56</a:t>
            </a:r>
            <a:r>
              <a:rPr lang="en" sz="2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%</a:t>
            </a:r>
            <a:endParaRPr sz="2000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99" name="Google Shape;799;p74"/>
          <p:cNvSpPr txBox="1"/>
          <p:nvPr/>
        </p:nvSpPr>
        <p:spPr>
          <a:xfrm>
            <a:off x="6260303" y="4212725"/>
            <a:ext cx="152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68.96%</a:t>
            </a:r>
            <a:endParaRPr sz="2000">
              <a:solidFill>
                <a:schemeClr val="dk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800" name="Google Shape;800;p74" title="system_performance_horizontal-5.png"/>
          <p:cNvPicPr preferRelativeResize="0"/>
          <p:nvPr/>
        </p:nvPicPr>
        <p:blipFill rotWithShape="1">
          <a:blip r:embed="rId3">
            <a:alphaModFix/>
          </a:blip>
          <a:srcRect b="-381" l="0" r="0" t="52764"/>
          <a:stretch/>
        </p:blipFill>
        <p:spPr>
          <a:xfrm>
            <a:off x="595850" y="2773379"/>
            <a:ext cx="3558312" cy="1931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74" title="system_performance_horizontal-5.png"/>
          <p:cNvPicPr preferRelativeResize="0"/>
          <p:nvPr/>
        </p:nvPicPr>
        <p:blipFill rotWithShape="1">
          <a:blip r:embed="rId3">
            <a:alphaModFix/>
          </a:blip>
          <a:srcRect b="51557" l="0" r="0" t="380"/>
          <a:stretch/>
        </p:blipFill>
        <p:spPr>
          <a:xfrm>
            <a:off x="595850" y="895525"/>
            <a:ext cx="3558312" cy="1950065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74"/>
          <p:cNvSpPr txBox="1"/>
          <p:nvPr/>
        </p:nvSpPr>
        <p:spPr>
          <a:xfrm>
            <a:off x="286875" y="4657909"/>
            <a:ext cx="43380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250" lIns="105250" spcFirstLastPara="1" rIns="105250" wrap="square" tIns="1052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1">
                <a:latin typeface="Hind"/>
                <a:ea typeface="Hind"/>
                <a:cs typeface="Hind"/>
                <a:sym typeface="Hind"/>
              </a:rPr>
              <a:t>Figure 4.2: Comparison plots for fixed 20 tasks</a:t>
            </a:r>
            <a:endParaRPr sz="1381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803" name="Google Shape;803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75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9" name="Google Shape;809;p75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4. Tests and Results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0" name="Google Shape;810;p75"/>
          <p:cNvSpPr txBox="1"/>
          <p:nvPr>
            <p:ph type="title"/>
          </p:nvPr>
        </p:nvSpPr>
        <p:spPr>
          <a:xfrm>
            <a:off x="4641638" y="150100"/>
            <a:ext cx="526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4.3 Task Scalability Comparison</a:t>
            </a:r>
            <a:endParaRPr sz="2200">
              <a:solidFill>
                <a:srgbClr val="0000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11" name="Google Shape;811;p75"/>
          <p:cNvSpPr txBox="1"/>
          <p:nvPr/>
        </p:nvSpPr>
        <p:spPr>
          <a:xfrm>
            <a:off x="2743500" y="2544825"/>
            <a:ext cx="9165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2" name="Google Shape;812;p75" title="task_scalability_computation_time@2x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4325" y="836642"/>
            <a:ext cx="6333199" cy="3958250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4" name="Google Shape;814;p75"/>
          <p:cNvSpPr txBox="1"/>
          <p:nvPr/>
        </p:nvSpPr>
        <p:spPr>
          <a:xfrm>
            <a:off x="2270550" y="4712410"/>
            <a:ext cx="460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ind"/>
                <a:ea typeface="Hind"/>
                <a:cs typeface="Hind"/>
                <a:sym typeface="Hind"/>
              </a:rPr>
              <a:t>Figure 4.3: Task Scalability Comparison </a:t>
            </a:r>
            <a:endParaRPr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6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0" name="Google Shape;820;p76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1" name="Google Shape;821;p76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5. Research Timeline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2" name="Google Shape;822;p76" title="Artboard 4.png"/>
          <p:cNvPicPr preferRelativeResize="0"/>
          <p:nvPr/>
        </p:nvPicPr>
        <p:blipFill rotWithShape="1">
          <a:blip r:embed="rId3">
            <a:alphaModFix/>
          </a:blip>
          <a:srcRect b="0" l="50" r="50" t="0"/>
          <a:stretch/>
        </p:blipFill>
        <p:spPr>
          <a:xfrm>
            <a:off x="577956" y="1463043"/>
            <a:ext cx="7716808" cy="2783515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6"/>
          <p:cNvSpPr txBox="1"/>
          <p:nvPr/>
        </p:nvSpPr>
        <p:spPr>
          <a:xfrm flipH="1">
            <a:off x="230623" y="3661783"/>
            <a:ext cx="19164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6">
                <a:solidFill>
                  <a:srgbClr val="0E314D"/>
                </a:solidFill>
                <a:latin typeface="Roboto"/>
                <a:ea typeface="Roboto"/>
                <a:cs typeface="Roboto"/>
                <a:sym typeface="Roboto"/>
              </a:rPr>
              <a:t>Planning &amp; Research</a:t>
            </a:r>
            <a:endParaRPr sz="1636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p76"/>
          <p:cNvSpPr txBox="1"/>
          <p:nvPr/>
        </p:nvSpPr>
        <p:spPr>
          <a:xfrm flipH="1">
            <a:off x="1618629" y="1445900"/>
            <a:ext cx="1870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6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Simulation &amp; MILP Setup</a:t>
            </a:r>
            <a:endParaRPr sz="1636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76"/>
          <p:cNvSpPr txBox="1"/>
          <p:nvPr/>
        </p:nvSpPr>
        <p:spPr>
          <a:xfrm flipH="1">
            <a:off x="3998544" y="1445900"/>
            <a:ext cx="2191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6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Central Server Architecture</a:t>
            </a:r>
            <a:endParaRPr sz="1636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6" name="Google Shape;826;p76"/>
          <p:cNvSpPr txBox="1"/>
          <p:nvPr/>
        </p:nvSpPr>
        <p:spPr>
          <a:xfrm flipH="1">
            <a:off x="6506725" y="1445900"/>
            <a:ext cx="2191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6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Documentation &amp; Defense </a:t>
            </a:r>
            <a:endParaRPr sz="1636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7" name="Google Shape;827;p76"/>
          <p:cNvSpPr txBox="1"/>
          <p:nvPr/>
        </p:nvSpPr>
        <p:spPr>
          <a:xfrm flipH="1">
            <a:off x="2567408" y="3661770"/>
            <a:ext cx="24699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6">
                <a:solidFill>
                  <a:srgbClr val="0E314D"/>
                </a:solidFill>
                <a:latin typeface="Roboto"/>
                <a:ea typeface="Roboto"/>
                <a:cs typeface="Roboto"/>
                <a:sym typeface="Roboto"/>
              </a:rPr>
              <a:t>XGBoost Model</a:t>
            </a:r>
            <a:endParaRPr sz="1636">
              <a:solidFill>
                <a:srgbClr val="0E314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6">
                <a:solidFill>
                  <a:srgbClr val="0E314D"/>
                </a:solidFill>
                <a:latin typeface="Roboto"/>
                <a:ea typeface="Roboto"/>
                <a:cs typeface="Roboto"/>
                <a:sym typeface="Roboto"/>
              </a:rPr>
              <a:t>Training</a:t>
            </a:r>
            <a:endParaRPr sz="1636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8" name="Google Shape;828;p76"/>
          <p:cNvSpPr txBox="1"/>
          <p:nvPr/>
        </p:nvSpPr>
        <p:spPr>
          <a:xfrm flipH="1">
            <a:off x="5199565" y="3661770"/>
            <a:ext cx="24699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500" lIns="93500" spcFirstLastPara="1" rIns="93500" wrap="square" tIns="93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6">
                <a:solidFill>
                  <a:srgbClr val="0E314D"/>
                </a:solidFill>
                <a:latin typeface="Roboto"/>
                <a:ea typeface="Roboto"/>
                <a:cs typeface="Roboto"/>
                <a:sym typeface="Roboto"/>
              </a:rPr>
              <a:t>Full System</a:t>
            </a:r>
            <a:endParaRPr sz="1636">
              <a:solidFill>
                <a:srgbClr val="0E314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6">
                <a:solidFill>
                  <a:srgbClr val="0E314D"/>
                </a:solidFill>
                <a:latin typeface="Roboto"/>
                <a:ea typeface="Roboto"/>
                <a:cs typeface="Roboto"/>
                <a:sym typeface="Roboto"/>
              </a:rPr>
              <a:t>Testing &amp; Evaluation</a:t>
            </a:r>
            <a:endParaRPr sz="1636">
              <a:solidFill>
                <a:srgbClr val="0E314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6">
              <a:solidFill>
                <a:srgbClr val="0E314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9" name="Google Shape;829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7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77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6" name="Google Shape;836;p77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. Future Work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7" name="Google Shape;837;p77"/>
          <p:cNvSpPr txBox="1"/>
          <p:nvPr/>
        </p:nvSpPr>
        <p:spPr>
          <a:xfrm>
            <a:off x="3557825" y="1330575"/>
            <a:ext cx="52278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 Medium"/>
              <a:buChar char="●"/>
            </a:pPr>
            <a:r>
              <a:rPr lang="en" sz="19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Integrate the classifier &amp; Learning-to-Rank scheduler into the Warehouse Management System.</a:t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 Medium"/>
              <a:buChar char="●"/>
            </a:pPr>
            <a:r>
              <a:rPr lang="en" sz="19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Replace the simulation with real robots.</a:t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 Medium"/>
              <a:buChar char="●"/>
            </a:pPr>
            <a:r>
              <a:rPr lang="en" sz="19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Evaluate the framework on physical warehouse robots.</a:t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838" name="Google Shape;838;p77"/>
          <p:cNvPicPr preferRelativeResize="0"/>
          <p:nvPr/>
        </p:nvPicPr>
        <p:blipFill rotWithShape="1">
          <a:blip r:embed="rId3">
            <a:alphaModFix/>
          </a:blip>
          <a:srcRect b="0" l="9366" r="17800" t="0"/>
          <a:stretch/>
        </p:blipFill>
        <p:spPr>
          <a:xfrm>
            <a:off x="571925" y="1309474"/>
            <a:ext cx="2909700" cy="2996400"/>
          </a:xfrm>
          <a:prstGeom prst="roundRect">
            <a:avLst>
              <a:gd fmla="val 5961" name="adj"/>
            </a:avLst>
          </a:prstGeom>
          <a:noFill/>
          <a:ln>
            <a:noFill/>
          </a:ln>
        </p:spPr>
      </p:pic>
      <p:sp>
        <p:nvSpPr>
          <p:cNvPr id="839" name="Google Shape;839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0" name="Google Shape;840;p77"/>
          <p:cNvSpPr txBox="1"/>
          <p:nvPr/>
        </p:nvSpPr>
        <p:spPr>
          <a:xfrm>
            <a:off x="-116500" y="4406785"/>
            <a:ext cx="460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Hind"/>
                <a:ea typeface="Hind"/>
                <a:cs typeface="Hind"/>
                <a:sym typeface="Hind"/>
              </a:rPr>
              <a:t>Figure 6.1: Warehouse Robot Design</a:t>
            </a:r>
            <a:endParaRPr sz="1600"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8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78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78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. Conclusion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8" name="Google Shape;848;p78"/>
          <p:cNvSpPr txBox="1"/>
          <p:nvPr/>
        </p:nvSpPr>
        <p:spPr>
          <a:xfrm>
            <a:off x="573851" y="1330575"/>
            <a:ext cx="78588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 Medium"/>
              <a:buChar char="●"/>
            </a:pPr>
            <a:r>
              <a:rPr lang="en" sz="19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XGBoost classifier successfully learned optimal robot assignment.</a:t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 Medium"/>
              <a:buChar char="●"/>
            </a:pPr>
            <a:r>
              <a:rPr lang="en" sz="19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Learning-to-Rank model developed for dynamic queue reordering.</a:t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 Medium"/>
              <a:buChar char="●"/>
            </a:pPr>
            <a:r>
              <a:rPr lang="en" sz="19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Overall scheduling performance significantly improved over First Come First Serve model.</a:t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97369"/>
              </a:buClr>
              <a:buSzPts val="1900"/>
              <a:buFont typeface="Roboto Medium"/>
              <a:buChar char="●"/>
            </a:pPr>
            <a:r>
              <a:rPr lang="en" sz="1900">
                <a:solidFill>
                  <a:srgbClr val="0E314D"/>
                </a:solidFill>
                <a:latin typeface="Roboto Medium"/>
                <a:ea typeface="Roboto Medium"/>
                <a:cs typeface="Roboto Medium"/>
                <a:sym typeface="Roboto Medium"/>
              </a:rPr>
              <a:t>Future Integration into the warehouse management system and system evaluation with physical robots.</a:t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E314D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49" name="Google Shape;849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0" name="Google Shape;850;p78"/>
          <p:cNvSpPr/>
          <p:nvPr/>
        </p:nvSpPr>
        <p:spPr>
          <a:xfrm>
            <a:off x="788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1" name="Google Shape;851;p78"/>
          <p:cNvSpPr txBox="1"/>
          <p:nvPr>
            <p:ph type="title"/>
          </p:nvPr>
        </p:nvSpPr>
        <p:spPr>
          <a:xfrm>
            <a:off x="77237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7. Conclusion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9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79"/>
          <p:cNvSpPr/>
          <p:nvPr/>
        </p:nvSpPr>
        <p:spPr>
          <a:xfrm>
            <a:off x="-45425" y="0"/>
            <a:ext cx="9189300" cy="801000"/>
          </a:xfrm>
          <a:prstGeom prst="rect">
            <a:avLst/>
          </a:prstGeom>
          <a:solidFill>
            <a:srgbClr val="C3D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79"/>
          <p:cNvSpPr txBox="1"/>
          <p:nvPr>
            <p:ph type="title"/>
          </p:nvPr>
        </p:nvSpPr>
        <p:spPr>
          <a:xfrm>
            <a:off x="648122" y="114150"/>
            <a:ext cx="3615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8. </a:t>
            </a:r>
            <a:r>
              <a:rPr b="1" lang="en" sz="2700">
                <a:solidFill>
                  <a:srgbClr val="191919"/>
                </a:solidFill>
                <a:latin typeface="Roboto"/>
                <a:ea typeface="Roboto"/>
                <a:cs typeface="Roboto"/>
                <a:sym typeface="Roboto"/>
              </a:rPr>
              <a:t>References</a:t>
            </a:r>
            <a:endParaRPr b="1" sz="2700">
              <a:solidFill>
                <a:srgbClr val="19191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79"/>
          <p:cNvSpPr txBox="1"/>
          <p:nvPr/>
        </p:nvSpPr>
        <p:spPr>
          <a:xfrm>
            <a:off x="988125" y="1047900"/>
            <a:ext cx="77604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030"/>
                </a:solidFill>
                <a:latin typeface="Roboto"/>
                <a:ea typeface="Roboto"/>
                <a:cs typeface="Roboto"/>
                <a:sym typeface="Roboto"/>
              </a:rPr>
              <a:t>Pal A, Chauhan A, Baranwal M, Ojha A. , "Optimizing Multi-Robot Task Allocation in   Dynamic Environments via Heuristic-Guided Reinforcement Learning", ECAI, 2024.</a:t>
            </a:r>
            <a:endParaRPr sz="1600">
              <a:solidFill>
                <a:srgbClr val="3030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030"/>
                </a:solidFill>
                <a:latin typeface="Roboto"/>
                <a:ea typeface="Roboto"/>
                <a:cs typeface="Roboto"/>
                <a:sym typeface="Roboto"/>
              </a:rPr>
              <a:t>Park B, Kang C, Choi J. , "Cooperative Multi-Robot Task Allocation with Reinforcement Learning", Applied Sciences, 2022.</a:t>
            </a:r>
            <a:endParaRPr sz="1600">
              <a:solidFill>
                <a:srgbClr val="3030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030"/>
                </a:solidFill>
                <a:latin typeface="Roboto"/>
                <a:ea typeface="Roboto"/>
                <a:cs typeface="Roboto"/>
                <a:sym typeface="Roboto"/>
              </a:rPr>
              <a:t>Putatunda S, Rama K. , "A Modified Bayesian Optimization based Hyper-Parameter Tuning Approach for Extreme Gradient Boosting", 2019.</a:t>
            </a:r>
            <a:endParaRPr sz="1600">
              <a:solidFill>
                <a:srgbClr val="3030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030"/>
                </a:solidFill>
                <a:latin typeface="Roboto"/>
                <a:ea typeface="Roboto"/>
                <a:cs typeface="Roboto"/>
                <a:sym typeface="Roboto"/>
              </a:rPr>
              <a:t>Sharma A., "Listwise Learning to Rank with Deep Q-Networks", 2020.</a:t>
            </a:r>
            <a:endParaRPr sz="1600">
              <a:solidFill>
                <a:srgbClr val="3030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030"/>
                </a:solidFill>
                <a:latin typeface="Roboto"/>
                <a:ea typeface="Roboto"/>
                <a:cs typeface="Roboto"/>
                <a:sym typeface="Roboto"/>
              </a:rPr>
              <a:t>Atay N., Bayazit B., "Mixed-Integer Linear Programming Solution to Multi-Robot Task Allocation Problem", Washington University in St. Louis, 2006</a:t>
            </a:r>
            <a:endParaRPr sz="1600">
              <a:solidFill>
                <a:srgbClr val="3030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030"/>
                </a:solidFill>
                <a:latin typeface="Roboto"/>
                <a:ea typeface="Roboto"/>
                <a:cs typeface="Roboto"/>
                <a:sym typeface="Roboto"/>
              </a:rPr>
              <a:t>Athira K. A., Udayan J. D., Subramaniam U., "A Systematic Literature Review on Multi-Robot Task Allocation", ACM Computing Surveys, vol. 57, no. 3, 2024.</a:t>
            </a:r>
            <a:endParaRPr sz="1600">
              <a:solidFill>
                <a:srgbClr val="30303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0" name="Google Shape;860;p79"/>
          <p:cNvSpPr txBox="1"/>
          <p:nvPr/>
        </p:nvSpPr>
        <p:spPr>
          <a:xfrm>
            <a:off x="648125" y="1047900"/>
            <a:ext cx="6528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030"/>
                </a:solidFill>
                <a:latin typeface="Roboto"/>
                <a:ea typeface="Roboto"/>
                <a:cs typeface="Roboto"/>
                <a:sym typeface="Roboto"/>
              </a:rPr>
              <a:t>[1]</a:t>
            </a:r>
            <a:endParaRPr sz="1600">
              <a:solidFill>
                <a:srgbClr val="3030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0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030"/>
                </a:solidFill>
                <a:latin typeface="Roboto"/>
                <a:ea typeface="Roboto"/>
                <a:cs typeface="Roboto"/>
                <a:sym typeface="Roboto"/>
              </a:rPr>
              <a:t>[2]</a:t>
            </a:r>
            <a:endParaRPr sz="1600">
              <a:solidFill>
                <a:srgbClr val="3030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0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030"/>
                </a:solidFill>
                <a:latin typeface="Roboto"/>
                <a:ea typeface="Roboto"/>
                <a:cs typeface="Roboto"/>
                <a:sym typeface="Roboto"/>
              </a:rPr>
              <a:t>[3]</a:t>
            </a:r>
            <a:endParaRPr sz="1600">
              <a:solidFill>
                <a:srgbClr val="3030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0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030"/>
                </a:solidFill>
                <a:latin typeface="Roboto"/>
                <a:ea typeface="Roboto"/>
                <a:cs typeface="Roboto"/>
                <a:sym typeface="Roboto"/>
              </a:rPr>
              <a:t>[4]</a:t>
            </a:r>
            <a:endParaRPr sz="1600">
              <a:solidFill>
                <a:srgbClr val="3030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030"/>
                </a:solidFill>
                <a:latin typeface="Roboto"/>
                <a:ea typeface="Roboto"/>
                <a:cs typeface="Roboto"/>
                <a:sym typeface="Roboto"/>
              </a:rPr>
              <a:t>[5]</a:t>
            </a:r>
            <a:endParaRPr sz="1600">
              <a:solidFill>
                <a:srgbClr val="3030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0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030"/>
                </a:solidFill>
                <a:latin typeface="Roboto"/>
                <a:ea typeface="Roboto"/>
                <a:cs typeface="Roboto"/>
                <a:sym typeface="Roboto"/>
              </a:rPr>
              <a:t>[6]</a:t>
            </a:r>
            <a:endParaRPr sz="1600">
              <a:solidFill>
                <a:srgbClr val="3030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03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80"/>
          <p:cNvSpPr/>
          <p:nvPr/>
        </p:nvSpPr>
        <p:spPr>
          <a:xfrm>
            <a:off x="-52500" y="5050500"/>
            <a:ext cx="9249000" cy="9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7" name="Google Shape;867;p80"/>
          <p:cNvSpPr txBox="1"/>
          <p:nvPr>
            <p:ph idx="4294967295" type="ctrTitle"/>
          </p:nvPr>
        </p:nvSpPr>
        <p:spPr>
          <a:xfrm>
            <a:off x="624475" y="1461788"/>
            <a:ext cx="7593300" cy="11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97369"/>
                </a:solidFill>
              </a:rPr>
              <a:t>“Thank You”</a:t>
            </a:r>
            <a:endParaRPr sz="6000">
              <a:solidFill>
                <a:srgbClr val="F973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for Your Time and Attention!</a:t>
            </a:r>
            <a:endParaRPr sz="3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imate-resilient Public Infrastructure Thesis Defense by Slidesgo">
  <a:themeElements>
    <a:clrScheme name="Simple Light">
      <a:dk1>
        <a:srgbClr val="303942"/>
      </a:dk1>
      <a:lt1>
        <a:srgbClr val="F5F5F5"/>
      </a:lt1>
      <a:dk2>
        <a:srgbClr val="6C6465"/>
      </a:dk2>
      <a:lt2>
        <a:srgbClr val="45525F"/>
      </a:lt2>
      <a:accent1>
        <a:srgbClr val="8D8E92"/>
      </a:accent1>
      <a:accent2>
        <a:srgbClr val="5E7082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limate-resilient Public Infrastructure Thesis Defense by Slidesgo">
  <a:themeElements>
    <a:clrScheme name="Simple Light">
      <a:dk1>
        <a:srgbClr val="303942"/>
      </a:dk1>
      <a:lt1>
        <a:srgbClr val="F5F5F5"/>
      </a:lt1>
      <a:dk2>
        <a:srgbClr val="6C6465"/>
      </a:dk2>
      <a:lt2>
        <a:srgbClr val="45525F"/>
      </a:lt2>
      <a:accent1>
        <a:srgbClr val="8D8E92"/>
      </a:accent1>
      <a:accent2>
        <a:srgbClr val="5E7082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